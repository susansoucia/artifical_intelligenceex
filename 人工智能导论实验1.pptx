
<file path=[Content_Types].xml><?xml version="1.0" encoding="utf-8"?>
<Types xmlns="http://schemas.openxmlformats.org/package/2006/content-types">
  <Default Extension="GIF" ContentType="image/gif"/>
  <Default Extension="jpeg" ContentType="image/jpeg"/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  <p:sldMasterId id="2147483660" r:id="rId2"/>
  </p:sldMasterIdLst>
  <p:notesMasterIdLst>
    <p:notesMasterId r:id="rId15"/>
  </p:notesMasterIdLst>
  <p:sldIdLst>
    <p:sldId id="260" r:id="rId3"/>
    <p:sldId id="276" r:id="rId4"/>
    <p:sldId id="277" r:id="rId5"/>
    <p:sldId id="263" r:id="rId6"/>
    <p:sldId id="282" r:id="rId7"/>
    <p:sldId id="279" r:id="rId8"/>
    <p:sldId id="283" r:id="rId9"/>
    <p:sldId id="284" r:id="rId10"/>
    <p:sldId id="285" r:id="rId11"/>
    <p:sldId id="287" r:id="rId12"/>
    <p:sldId id="288" r:id="rId13"/>
    <p:sldId id="289" r:id="rId14"/>
  </p:sldIdLst>
  <p:sldSz cx="12192000" cy="6858000"/>
  <p:notesSz cx="6858000" cy="9144000"/>
  <p:custDataLst>
    <p:tags r:id="rId16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407F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83292" autoAdjust="0"/>
  </p:normalViewPr>
  <p:slideViewPr>
    <p:cSldViewPr snapToGrid="0" snapToObjects="1">
      <p:cViewPr varScale="1">
        <p:scale>
          <a:sx n="68" d="100"/>
          <a:sy n="68" d="100"/>
        </p:scale>
        <p:origin x="1042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viewProps" Target="viewProps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presProps" Target="presProps.xml"/><Relationship Id="rId2" Type="http://schemas.openxmlformats.org/officeDocument/2006/relationships/slideMaster" Target="slideMasters/slideMaster2.xml"/><Relationship Id="rId16" Type="http://schemas.openxmlformats.org/officeDocument/2006/relationships/tags" Target="tags/tag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8.xml"/><Relationship Id="rId19" Type="http://schemas.openxmlformats.org/officeDocument/2006/relationships/theme" Target="theme/theme1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8A9060A-8E3F-469A-8926-3C3F2FFECB19}" type="datetimeFigureOut">
              <a:rPr lang="zh-CN" altLang="en-US" smtClean="0"/>
              <a:t>2025/12/3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445AB89-E749-40BD-B9C9-B005F5B134A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1960448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从罗马尼亚的 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 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市出发，需找到前往首都 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市的路径。该问题可抽象为带权无向图搜索 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—— 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城市为节点，公路为带距离权重的边，目标是通过合理的搜索策略，高效找到符合需求的路径（如</a:t>
            </a:r>
            <a:r>
              <a:rPr lang="zh-CN" alt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步数最少、距离最短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）。其简化的状态空间与明确的目标，能直观展现不同搜索算法的核心逻辑与优劣差异，是理解无信息搜索与有信息搜索的绝佳案例。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445AB89-E749-40BD-B9C9-B005F5B134AF}" type="slidenum">
              <a:rPr lang="zh-CN" altLang="en-US" smtClean="0"/>
              <a:t>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8785208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445AB89-E749-40BD-B9C9-B005F5B134AF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6113520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445AB89-E749-40BD-B9C9-B005F5B134AF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5862698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445AB89-E749-40BD-B9C9-B005F5B134AF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7427214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界面输入起点、终点和所用方法；图中可视化路径。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445AB89-E749-40BD-B9C9-B005F5B134AF}" type="slidenum">
              <a:rPr lang="zh-CN" altLang="en-US" smtClean="0"/>
              <a:t>10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4571867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实验报告中的展示关键代码即可（比如实现深度优先、广度优先的代码），不用大量的粘贴代码和图片。</a:t>
            </a:r>
            <a:br>
              <a:rPr lang="en-US" altLang="zh-CN" dirty="0"/>
            </a:br>
            <a:br>
              <a:rPr lang="en-US" altLang="zh-CN" dirty="0"/>
            </a:br>
            <a:r>
              <a:rPr lang="en-US" altLang="zh-CN" dirty="0"/>
              <a:t>PPT</a:t>
            </a:r>
            <a:r>
              <a:rPr lang="zh-CN" altLang="en-US" dirty="0"/>
              <a:t>里展示的城市节点数据只是示例数据，待会发出来新的城市节点信息。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445AB89-E749-40BD-B9C9-B005F5B134AF}" type="slidenum">
              <a:rPr lang="zh-CN" altLang="en-US" smtClean="0"/>
              <a:t>11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3508679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0C6804-A471-56AE-8ABD-482EACB9EB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D32D2D75-C445-C04B-602A-43931520DB6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C4F19F02-487F-51B2-2902-F0AF474ABB5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这里解释下数据文件。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AFF327B0-7C53-8075-F178-39A09645B30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445AB89-E749-40BD-B9C9-B005F5B134AF}" type="slidenum">
              <a:rPr lang="zh-CN" altLang="en-US" smtClean="0"/>
              <a:t>12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5029688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CCBBCB-9426-2446-A0FE-33C0C854592C}" type="datetimeFigureOut">
              <a:rPr kumimoji="1" lang="zh-CN" altLang="en-US" smtClean="0"/>
              <a:t>2025/12/3</a:t>
            </a:fld>
            <a:endParaRPr kumimoji="1"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56FB28-59B9-7C42-B696-17BF39880EBF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random/>
      </p:transition>
    </mc:Choice>
    <mc:Fallback xmlns="">
      <p:transition>
        <p:random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CCBBCB-9426-2446-A0FE-33C0C854592C}" type="datetimeFigureOut">
              <a:rPr kumimoji="1" lang="zh-CN" altLang="en-US" smtClean="0"/>
              <a:t>2025/12/3</a:t>
            </a:fld>
            <a:endParaRPr kumimoji="1"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56FB28-59B9-7C42-B696-17BF39880EBF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random/>
      </p:transition>
    </mc:Choice>
    <mc:Fallback xmlns="">
      <p:transition>
        <p:random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CCBBCB-9426-2446-A0FE-33C0C854592C}" type="datetimeFigureOut">
              <a:rPr kumimoji="1" lang="zh-CN" altLang="en-US" smtClean="0"/>
              <a:t>2025/12/3</a:t>
            </a:fld>
            <a:endParaRPr kumimoji="1"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56FB28-59B9-7C42-B696-17BF39880EBF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random/>
      </p:transition>
    </mc:Choice>
    <mc:Fallback xmlns="">
      <p:transition>
        <p:random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CCBBCB-9426-2446-A0FE-33C0C854592C}" type="datetimeFigureOut">
              <a:rPr kumimoji="1" lang="zh-CN" altLang="en-US" smtClean="0"/>
              <a:t>2025/12/3</a:t>
            </a:fld>
            <a:endParaRPr kumimoji="1"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56FB28-59B9-7C42-B696-17BF39880EBF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random/>
      </p:transition>
    </mc:Choice>
    <mc:Fallback xmlns="">
      <p:transition>
        <p:random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CCBBCB-9426-2446-A0FE-33C0C854592C}" type="datetimeFigureOut">
              <a:rPr kumimoji="1" lang="zh-CN" altLang="en-US" smtClean="0"/>
              <a:t>2025/12/3</a:t>
            </a:fld>
            <a:endParaRPr kumimoji="1"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56FB28-59B9-7C42-B696-17BF39880EBF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random/>
      </p:transition>
    </mc:Choice>
    <mc:Fallback xmlns="">
      <p:transition>
        <p:random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CCBBCB-9426-2446-A0FE-33C0C854592C}" type="datetimeFigureOut">
              <a:rPr kumimoji="1" lang="zh-CN" altLang="en-US" smtClean="0"/>
              <a:t>2025/12/3</a:t>
            </a:fld>
            <a:endParaRPr kumimoji="1"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56FB28-59B9-7C42-B696-17BF39880EBF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random/>
      </p:transition>
    </mc:Choice>
    <mc:Fallback xmlns="">
      <p:transition>
        <p:random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CCBBCB-9426-2446-A0FE-33C0C854592C}" type="datetimeFigureOut">
              <a:rPr kumimoji="1" lang="zh-CN" altLang="en-US" smtClean="0"/>
              <a:t>2025/12/3</a:t>
            </a:fld>
            <a:endParaRPr kumimoji="1"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56FB28-59B9-7C42-B696-17BF39880EBF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random/>
      </p:transition>
    </mc:Choice>
    <mc:Fallback xmlns="">
      <p:transition>
        <p:random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CCBBCB-9426-2446-A0FE-33C0C854592C}" type="datetimeFigureOut">
              <a:rPr kumimoji="1" lang="zh-CN" altLang="en-US" smtClean="0"/>
              <a:t>2025/12/3</a:t>
            </a:fld>
            <a:endParaRPr kumimoji="1"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56FB28-59B9-7C42-B696-17BF39880EBF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random/>
      </p:transition>
    </mc:Choice>
    <mc:Fallback xmlns="">
      <p:transition>
        <p:random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CCBBCB-9426-2446-A0FE-33C0C854592C}" type="datetimeFigureOut">
              <a:rPr kumimoji="1" lang="zh-CN" altLang="en-US" smtClean="0"/>
              <a:t>2025/12/3</a:t>
            </a:fld>
            <a:endParaRPr kumimoji="1"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56FB28-59B9-7C42-B696-17BF39880EBF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random/>
      </p:transition>
    </mc:Choice>
    <mc:Fallback xmlns="">
      <p:transition>
        <p:random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CCBBCB-9426-2446-A0FE-33C0C854592C}" type="datetimeFigureOut">
              <a:rPr kumimoji="1" lang="zh-CN" altLang="en-US" smtClean="0"/>
              <a:t>2025/12/3</a:t>
            </a:fld>
            <a:endParaRPr kumimoji="1"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56FB28-59B9-7C42-B696-17BF39880EBF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random/>
      </p:transition>
    </mc:Choice>
    <mc:Fallback xmlns="">
      <p:transition>
        <p:random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CCBBCB-9426-2446-A0FE-33C0C854592C}" type="datetimeFigureOut">
              <a:rPr kumimoji="1" lang="zh-CN" altLang="en-US" smtClean="0"/>
              <a:t>2025/12/3</a:t>
            </a:fld>
            <a:endParaRPr kumimoji="1"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56FB28-59B9-7C42-B696-17BF39880EBF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random/>
      </p:transition>
    </mc:Choice>
    <mc:Fallback xmlns="">
      <p:transition>
        <p:random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CCBBCB-9426-2446-A0FE-33C0C854592C}" type="datetimeFigureOut">
              <a:rPr kumimoji="1" lang="zh-CN" altLang="en-US" smtClean="0"/>
              <a:t>2025/12/3</a:t>
            </a:fld>
            <a:endParaRPr kumimoji="1"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56FB28-59B9-7C42-B696-17BF39880EBF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random/>
      </p:transition>
    </mc:Choice>
    <mc:Fallback xmlns="">
      <p:transition>
        <p:random/>
      </p:transition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CCBBCB-9426-2446-A0FE-33C0C854592C}" type="datetimeFigureOut">
              <a:rPr kumimoji="1" lang="zh-CN" altLang="en-US" smtClean="0"/>
              <a:t>2025/12/3</a:t>
            </a:fld>
            <a:endParaRPr kumimoji="1"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56FB28-59B9-7C42-B696-17BF39880EBF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random/>
      </p:transition>
    </mc:Choice>
    <mc:Fallback xmlns="">
      <p:transition>
        <p:random/>
      </p:transition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CCBBCB-9426-2446-A0FE-33C0C854592C}" type="datetimeFigureOut">
              <a:rPr kumimoji="1" lang="zh-CN" altLang="en-US" smtClean="0"/>
              <a:t>2025/12/3</a:t>
            </a:fld>
            <a:endParaRPr kumimoji="1"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56FB28-59B9-7C42-B696-17BF39880EBF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random/>
      </p:transition>
    </mc:Choice>
    <mc:Fallback xmlns="">
      <p:transition>
        <p:random/>
      </p:transition>
    </mc:Fallback>
  </mc:AlternateConten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CCBBCB-9426-2446-A0FE-33C0C854592C}" type="datetimeFigureOut">
              <a:rPr kumimoji="1" lang="zh-CN" altLang="en-US" smtClean="0"/>
              <a:t>2025/12/3</a:t>
            </a:fld>
            <a:endParaRPr kumimoji="1"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56FB28-59B9-7C42-B696-17BF39880EBF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random/>
      </p:transition>
    </mc:Choice>
    <mc:Fallback xmlns="">
      <p:transition>
        <p:random/>
      </p:transition>
    </mc:Fallback>
  </mc:AlternateConten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CCBBCB-9426-2446-A0FE-33C0C854592C}" type="datetimeFigureOut">
              <a:rPr kumimoji="1" lang="zh-CN" altLang="en-US" smtClean="0"/>
              <a:t>2025/12/3</a:t>
            </a:fld>
            <a:endParaRPr kumimoji="1"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56FB28-59B9-7C42-B696-17BF39880EBF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random/>
      </p:transition>
    </mc:Choice>
    <mc:Fallback xmlns="">
      <p:transition>
        <p:random/>
      </p:transition>
    </mc:Fallback>
  </mc:AlternateConten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CCBBCB-9426-2446-A0FE-33C0C854592C}" type="datetimeFigureOut">
              <a:rPr kumimoji="1" lang="zh-CN" altLang="en-US" smtClean="0"/>
              <a:t>2025/12/3</a:t>
            </a:fld>
            <a:endParaRPr kumimoji="1"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56FB28-59B9-7C42-B696-17BF39880EBF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random/>
      </p:transition>
    </mc:Choice>
    <mc:Fallback xmlns="">
      <p:transition>
        <p:random/>
      </p:transition>
    </mc:Fallback>
  </mc:AlternateConten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CCBBCB-9426-2446-A0FE-33C0C854592C}" type="datetimeFigureOut">
              <a:rPr kumimoji="1" lang="zh-CN" altLang="en-US" smtClean="0"/>
              <a:t>2025/12/3</a:t>
            </a:fld>
            <a:endParaRPr kumimoji="1"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56FB28-59B9-7C42-B696-17BF39880EBF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random/>
      </p:transition>
    </mc:Choice>
    <mc:Fallback xmlns="">
      <p:transition>
        <p:random/>
      </p:transition>
    </mc:Fallback>
  </mc:AlternateConten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CCBBCB-9426-2446-A0FE-33C0C854592C}" type="datetimeFigureOut">
              <a:rPr kumimoji="1" lang="zh-CN" altLang="en-US" smtClean="0"/>
              <a:t>2025/12/3</a:t>
            </a:fld>
            <a:endParaRPr kumimoji="1"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56FB28-59B9-7C42-B696-17BF39880EBF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random/>
      </p:transition>
    </mc:Choice>
    <mc:Fallback xmlns="">
      <p:transition>
        <p:random/>
      </p:transition>
    </mc:Fallback>
  </mc:AlternateConten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CCBBCB-9426-2446-A0FE-33C0C854592C}" type="datetimeFigureOut">
              <a:rPr kumimoji="1" lang="zh-CN" altLang="en-US" smtClean="0"/>
              <a:t>2025/12/3</a:t>
            </a:fld>
            <a:endParaRPr kumimoji="1"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56FB28-59B9-7C42-B696-17BF39880EBF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random/>
      </p:transition>
    </mc:Choice>
    <mc:Fallback xmlns="">
      <p:transition>
        <p:random/>
      </p:transition>
    </mc:Fallback>
  </mc:AlternateConten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CCBBCB-9426-2446-A0FE-33C0C854592C}" type="datetimeFigureOut">
              <a:rPr kumimoji="1" lang="zh-CN" altLang="en-US" smtClean="0"/>
              <a:t>2025/12/3</a:t>
            </a:fld>
            <a:endParaRPr kumimoji="1"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56FB28-59B9-7C42-B696-17BF39880EBF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random/>
      </p:transition>
    </mc:Choice>
    <mc:Fallback xmlns="">
      <p:transition>
        <p:random/>
      </p:transition>
    </mc:Fallback>
  </mc:AlternateConten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CCBBCB-9426-2446-A0FE-33C0C854592C}" type="datetimeFigureOut">
              <a:rPr kumimoji="1" lang="zh-CN" altLang="en-US" smtClean="0"/>
              <a:t>2025/12/3</a:t>
            </a:fld>
            <a:endParaRPr kumimoji="1"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56FB28-59B9-7C42-B696-17BF39880EBF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random/>
      </p:transition>
    </mc:Choice>
    <mc:Fallback xmlns="">
      <p:transition>
        <p:random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206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FCCBBCB-9426-2446-A0FE-33C0C854592C}" type="datetimeFigureOut">
              <a:rPr kumimoji="1" lang="zh-CN" altLang="en-US" smtClean="0"/>
              <a:t>2025/12/3</a:t>
            </a:fld>
            <a:endParaRPr kumimoji="1"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A56FB28-59B9-7C42-B696-17BF39880EBF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mc:AlternateContent xmlns:mc="http://schemas.openxmlformats.org/markup-compatibility/2006" xmlns:p14="http://schemas.microsoft.com/office/powerpoint/2010/main">
    <mc:Choice Requires="p14">
      <p:transition p14:dur="10">
        <p:random/>
      </p:transition>
    </mc:Choice>
    <mc:Fallback xmlns="">
      <p:transition>
        <p:random/>
      </p:transition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206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FCCBBCB-9426-2446-A0FE-33C0C854592C}" type="datetimeFigureOut">
              <a:rPr kumimoji="1" lang="zh-CN" altLang="en-US" smtClean="0"/>
              <a:t>2025/12/3</a:t>
            </a:fld>
            <a:endParaRPr kumimoji="1"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A56FB28-59B9-7C42-B696-17BF39880EBF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mc:AlternateContent xmlns:mc="http://schemas.openxmlformats.org/markup-compatibility/2006" xmlns:p14="http://schemas.microsoft.com/office/powerpoint/2010/main">
    <mc:Choice Requires="p14">
      <p:transition p14:dur="10">
        <p:random/>
      </p:transition>
    </mc:Choice>
    <mc:Fallback xmlns="">
      <p:transition>
        <p:random/>
      </p:transition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.GIF"/><Relationship Id="rId5" Type="http://schemas.openxmlformats.org/officeDocument/2006/relationships/image" Target="../media/image7.png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8.xml"/><Relationship Id="rId4" Type="http://schemas.openxmlformats.org/officeDocument/2006/relationships/image" Target="../media/image9.jpe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0.png"/><Relationship Id="rId4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7" Type="http://schemas.openxmlformats.org/officeDocument/2006/relationships/image" Target="../media/image11.png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notesSlide" Target="../notesSlides/notesSlide5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2.png"/><Relationship Id="rId4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/>
        </p:nvSpPr>
        <p:spPr>
          <a:xfrm>
            <a:off x="2640965" y="2252345"/>
            <a:ext cx="9233535" cy="2352675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9587" y="1319940"/>
            <a:ext cx="4024313" cy="4218119"/>
          </a:xfrm>
          <a:prstGeom prst="rect">
            <a:avLst/>
          </a:prstGeom>
        </p:spPr>
      </p:pic>
      <p:pic>
        <p:nvPicPr>
          <p:cNvPr id="4" name="图片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9637" y="1447800"/>
            <a:ext cx="3362325" cy="3524250"/>
          </a:xfrm>
          <a:prstGeom prst="rect">
            <a:avLst/>
          </a:prstGeom>
        </p:spPr>
      </p:pic>
      <p:cxnSp>
        <p:nvCxnSpPr>
          <p:cNvPr id="6" name="直接连接符 5"/>
          <p:cNvCxnSpPr/>
          <p:nvPr/>
        </p:nvCxnSpPr>
        <p:spPr>
          <a:xfrm>
            <a:off x="5861969" y="2678837"/>
            <a:ext cx="0" cy="1500326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文本框 6"/>
          <p:cNvSpPr txBox="1"/>
          <p:nvPr/>
        </p:nvSpPr>
        <p:spPr>
          <a:xfrm>
            <a:off x="4533801" y="2874365"/>
            <a:ext cx="1065530" cy="110680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6600" dirty="0">
                <a:solidFill>
                  <a:schemeClr val="bg1"/>
                </a:solidFill>
              </a:rPr>
              <a:t>01</a:t>
            </a:r>
            <a:endParaRPr lang="zh-CN" altLang="en-US" sz="6600" dirty="0">
              <a:solidFill>
                <a:schemeClr val="bg1"/>
              </a:solidFill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6289754" y="2951488"/>
            <a:ext cx="3738880" cy="95313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sz="2800" dirty="0">
                <a:solidFill>
                  <a:schemeClr val="bg1"/>
                </a:solidFill>
              </a:rPr>
              <a:t>基于三种搜索算法</a:t>
            </a:r>
          </a:p>
          <a:p>
            <a:pPr algn="l"/>
            <a:r>
              <a:rPr lang="zh-CN" altLang="en-US" sz="2800" dirty="0">
                <a:solidFill>
                  <a:schemeClr val="bg1"/>
                </a:solidFill>
              </a:rPr>
              <a:t>解决罗马尼亚度假问题</a:t>
            </a:r>
          </a:p>
        </p:txBody>
      </p:sp>
      <p:pic>
        <p:nvPicPr>
          <p:cNvPr id="9" name="图片 8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9736655" y="0"/>
            <a:ext cx="2452685" cy="829976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random/>
      </p:transition>
    </mc:Choice>
    <mc:Fallback xmlns="">
      <p:transition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500"/>
                            </p:stCondLst>
                            <p:childTnLst>
                              <p:par>
                                <p:cTn id="16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8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1000"/>
                            </p:stCondLst>
                            <p:childTnLst>
                              <p:par>
                                <p:cTn id="20" presetID="2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2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8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9341" cy="819150"/>
          </a:xfrm>
          <a:prstGeom prst="rect">
            <a:avLst/>
          </a:prstGeom>
        </p:spPr>
      </p:pic>
      <p:pic>
        <p:nvPicPr>
          <p:cNvPr id="4" name="图片 3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36654" y="0"/>
            <a:ext cx="2452687" cy="829976"/>
          </a:xfrm>
          <a:prstGeom prst="rect">
            <a:avLst/>
          </a:prstGeom>
        </p:spPr>
      </p:pic>
      <p:sp>
        <p:nvSpPr>
          <p:cNvPr id="35" name="文本框 34"/>
          <p:cNvSpPr txBox="1"/>
          <p:nvPr/>
        </p:nvSpPr>
        <p:spPr>
          <a:xfrm>
            <a:off x="79898" y="24854"/>
            <a:ext cx="4850105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4400" dirty="0"/>
              <a:t>问题定义</a:t>
            </a:r>
          </a:p>
        </p:txBody>
      </p:sp>
      <p:sp>
        <p:nvSpPr>
          <p:cNvPr id="9" name="矩形 8"/>
          <p:cNvSpPr/>
          <p:nvPr/>
        </p:nvSpPr>
        <p:spPr>
          <a:xfrm>
            <a:off x="2300605" y="2220595"/>
            <a:ext cx="8171180" cy="20612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zh-CN" sz="3200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本实验要求</a:t>
            </a:r>
            <a:r>
              <a:rPr lang="zh-CN" sz="3200" dirty="0">
                <a:solidFill>
                  <a:schemeClr val="bg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用广度优先算法、深度优先算法和A*算法求解“罗马尼亚度假问题”，即找到从初始地点 Arad到 目的地点 Bucharest 的一条最佳路径</a:t>
            </a:r>
            <a:r>
              <a:rPr lang="zh-CN" altLang="zh-CN" sz="3200" dirty="0">
                <a:solidFill>
                  <a:schemeClr val="bg1"/>
                </a:solidFill>
              </a:rPr>
              <a:t> </a:t>
            </a:r>
            <a:endParaRPr lang="zh-CN" altLang="en-US" sz="3200" dirty="0">
              <a:solidFill>
                <a:schemeClr val="bg1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random/>
      </p:transition>
    </mc:Choice>
    <mc:Fallback xmlns="">
      <p:transition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5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9341" cy="819150"/>
          </a:xfrm>
          <a:prstGeom prst="rect">
            <a:avLst/>
          </a:prstGeom>
        </p:spPr>
      </p:pic>
      <p:pic>
        <p:nvPicPr>
          <p:cNvPr id="4" name="图片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36654" y="0"/>
            <a:ext cx="2452687" cy="829976"/>
          </a:xfrm>
          <a:prstGeom prst="rect">
            <a:avLst/>
          </a:prstGeom>
        </p:spPr>
      </p:pic>
      <p:pic>
        <p:nvPicPr>
          <p:cNvPr id="101" name="图片 100"/>
          <p:cNvPicPr/>
          <p:nvPr/>
        </p:nvPicPr>
        <p:blipFill>
          <a:blip r:embed="rId4"/>
          <a:stretch>
            <a:fillRect/>
          </a:stretch>
        </p:blipFill>
        <p:spPr>
          <a:xfrm>
            <a:off x="584200" y="1032510"/>
            <a:ext cx="8335010" cy="517207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" name="文本框 1"/>
          <p:cNvSpPr txBox="1"/>
          <p:nvPr/>
        </p:nvSpPr>
        <p:spPr>
          <a:xfrm>
            <a:off x="9277985" y="2168525"/>
            <a:ext cx="2720340" cy="181483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zh-CN" altLang="en-US" sz="2800">
                <a:solidFill>
                  <a:schemeClr val="bg1"/>
                </a:solidFill>
              </a:rPr>
              <a:t>左图为罗马尼亚的地图，上面也显示了各个城市之间的代价值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random/>
      </p:transition>
    </mc:Choice>
    <mc:Fallback xmlns="">
      <p:transition>
        <p:random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9341" cy="819150"/>
          </a:xfrm>
          <a:prstGeom prst="rect">
            <a:avLst/>
          </a:prstGeom>
        </p:spPr>
      </p:pic>
      <p:pic>
        <p:nvPicPr>
          <p:cNvPr id="3" name="图片 2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36654" y="0"/>
            <a:ext cx="2452687" cy="829976"/>
          </a:xfrm>
          <a:prstGeom prst="rect">
            <a:avLst/>
          </a:prstGeom>
        </p:spPr>
      </p:pic>
      <p:sp>
        <p:nvSpPr>
          <p:cNvPr id="34" name="文本框 33"/>
          <p:cNvSpPr txBox="1"/>
          <p:nvPr/>
        </p:nvSpPr>
        <p:spPr>
          <a:xfrm>
            <a:off x="79898" y="24854"/>
            <a:ext cx="4850105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4400" dirty="0"/>
              <a:t>原理</a:t>
            </a:r>
          </a:p>
        </p:txBody>
      </p:sp>
      <p:sp>
        <p:nvSpPr>
          <p:cNvPr id="39" name="矩形: 圆角 13"/>
          <p:cNvSpPr/>
          <p:nvPr/>
        </p:nvSpPr>
        <p:spPr>
          <a:xfrm>
            <a:off x="224328" y="953952"/>
            <a:ext cx="5961207" cy="2540090"/>
          </a:xfrm>
          <a:prstGeom prst="roundRect">
            <a:avLst/>
          </a:prstGeom>
          <a:solidFill>
            <a:schemeClr val="accent5">
              <a:alpha val="50000"/>
            </a:schemeClr>
          </a:solidFill>
          <a:ln w="28575">
            <a:solidFill>
              <a:schemeClr val="bg1"/>
            </a:solidFill>
            <a:prstDash val="sysDash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2400" dirty="0">
                <a:solidFill>
                  <a:schemeClr val="bg1"/>
                </a:solidFill>
              </a:rPr>
              <a:t>广度优先搜索</a:t>
            </a:r>
            <a:endParaRPr lang="zh-CN" altLang="en-US" sz="2000" dirty="0">
              <a:solidFill>
                <a:schemeClr val="bg1"/>
              </a:solidFill>
            </a:endParaRPr>
          </a:p>
          <a:p>
            <a:endParaRPr lang="zh-CN" altLang="en-US" sz="2000" dirty="0">
              <a:solidFill>
                <a:schemeClr val="bg1"/>
              </a:solidFill>
            </a:endParaRPr>
          </a:p>
          <a:p>
            <a:r>
              <a:rPr lang="zh-CN" altLang="en-US" sz="2000" dirty="0">
                <a:solidFill>
                  <a:schemeClr val="bg1"/>
                </a:solidFill>
              </a:rPr>
              <a:t>从图的一个未遍历的节点出发，先遍历这个节点的相邻节点，再依次遍历每个相邻节点的相邻节点，找到目标节点或完全遍历结束。</a:t>
            </a:r>
          </a:p>
        </p:txBody>
      </p:sp>
      <p:sp>
        <p:nvSpPr>
          <p:cNvPr id="41" name="矩形: 圆角 13"/>
          <p:cNvSpPr/>
          <p:nvPr/>
        </p:nvSpPr>
        <p:spPr>
          <a:xfrm>
            <a:off x="224155" y="3827780"/>
            <a:ext cx="6031865" cy="2603500"/>
          </a:xfrm>
          <a:prstGeom prst="roundRect">
            <a:avLst/>
          </a:prstGeom>
          <a:solidFill>
            <a:schemeClr val="accent5">
              <a:alpha val="50000"/>
            </a:schemeClr>
          </a:solidFill>
          <a:ln w="28575">
            <a:solidFill>
              <a:schemeClr val="bg1"/>
            </a:solidFill>
            <a:prstDash val="sysDash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2400" dirty="0">
                <a:solidFill>
                  <a:schemeClr val="bg1"/>
                </a:solidFill>
              </a:rPr>
              <a:t>深度优先搜索</a:t>
            </a:r>
          </a:p>
          <a:p>
            <a:endParaRPr lang="zh-CN" altLang="en-US" dirty="0">
              <a:solidFill>
                <a:schemeClr val="bg1"/>
              </a:solidFill>
            </a:endParaRPr>
          </a:p>
          <a:p>
            <a:r>
              <a:rPr lang="zh-CN" altLang="en-US" sz="2000" dirty="0">
                <a:solidFill>
                  <a:schemeClr val="bg1"/>
                </a:solidFill>
              </a:rPr>
              <a:t>从图中一个未访问的顶点 V开始，沿着一条路一直走到底，然后从这条路尽头的节点回退到上一个节点，再从另一条路开始走到底...，不断递归重复此过程，直到找到目标节点或所有的顶点都遍历完成</a:t>
            </a:r>
          </a:p>
        </p:txBody>
      </p:sp>
      <p:pic>
        <p:nvPicPr>
          <p:cNvPr id="7" name="图片 6" descr="深度优先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74535" y="3894455"/>
            <a:ext cx="3242310" cy="2867660"/>
          </a:xfrm>
          <a:prstGeom prst="rect">
            <a:avLst/>
          </a:prstGeom>
        </p:spPr>
      </p:pic>
      <p:sp>
        <p:nvSpPr>
          <p:cNvPr id="8" name="右箭头 7"/>
          <p:cNvSpPr/>
          <p:nvPr/>
        </p:nvSpPr>
        <p:spPr>
          <a:xfrm>
            <a:off x="6416040" y="5225415"/>
            <a:ext cx="498475" cy="206375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9" name="图片 8" descr="广度优先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074535" y="819150"/>
            <a:ext cx="3177540" cy="2809240"/>
          </a:xfrm>
          <a:prstGeom prst="rect">
            <a:avLst/>
          </a:prstGeom>
        </p:spPr>
      </p:pic>
      <p:sp>
        <p:nvSpPr>
          <p:cNvPr id="10" name="右箭头 9"/>
          <p:cNvSpPr/>
          <p:nvPr/>
        </p:nvSpPr>
        <p:spPr>
          <a:xfrm>
            <a:off x="6416040" y="2317115"/>
            <a:ext cx="498475" cy="206375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random/>
      </p:transition>
    </mc:Choice>
    <mc:Fallback xmlns="">
      <p:transition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4" grpId="0"/>
      <p:bldP spid="39" grpId="0" bldLvl="0" animBg="1"/>
      <p:bldP spid="41" grpId="0" bldLvl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9341" cy="819150"/>
          </a:xfrm>
          <a:prstGeom prst="rect">
            <a:avLst/>
          </a:prstGeom>
        </p:spPr>
      </p:pic>
      <p:pic>
        <p:nvPicPr>
          <p:cNvPr id="3" name="图片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36654" y="0"/>
            <a:ext cx="2452687" cy="829976"/>
          </a:xfrm>
          <a:prstGeom prst="rect">
            <a:avLst/>
          </a:prstGeom>
        </p:spPr>
      </p:pic>
      <p:sp>
        <p:nvSpPr>
          <p:cNvPr id="34" name="文本框 33"/>
          <p:cNvSpPr txBox="1"/>
          <p:nvPr/>
        </p:nvSpPr>
        <p:spPr>
          <a:xfrm>
            <a:off x="79898" y="24854"/>
            <a:ext cx="4850105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4400" dirty="0"/>
              <a:t>原理</a:t>
            </a:r>
          </a:p>
        </p:txBody>
      </p:sp>
      <p:sp>
        <p:nvSpPr>
          <p:cNvPr id="39" name="矩形: 圆角 13"/>
          <p:cNvSpPr/>
          <p:nvPr/>
        </p:nvSpPr>
        <p:spPr>
          <a:xfrm>
            <a:off x="5012690" y="1004570"/>
            <a:ext cx="6742430" cy="5642610"/>
          </a:xfrm>
          <a:prstGeom prst="roundRect">
            <a:avLst/>
          </a:prstGeom>
          <a:solidFill>
            <a:schemeClr val="accent5">
              <a:alpha val="50000"/>
            </a:schemeClr>
          </a:solidFill>
          <a:ln w="28575">
            <a:solidFill>
              <a:schemeClr val="bg1"/>
            </a:solidFill>
            <a:prstDash val="sysDash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CN" dirty="0">
                <a:solidFill>
                  <a:schemeClr val="bg1"/>
                </a:solidFill>
              </a:rPr>
              <a:t>A* </a:t>
            </a:r>
            <a:r>
              <a:rPr lang="zh-CN" altLang="en-US" dirty="0">
                <a:solidFill>
                  <a:schemeClr val="bg1"/>
                </a:solidFill>
              </a:rPr>
              <a:t>算法描述如图：</a:t>
            </a:r>
          </a:p>
          <a:p>
            <a:endParaRPr lang="zh-CN" altLang="en-US" dirty="0">
              <a:solidFill>
                <a:schemeClr val="bg1"/>
              </a:solidFill>
            </a:endParaRPr>
          </a:p>
          <a:p>
            <a:endParaRPr lang="zh-CN" altLang="en-US" dirty="0">
              <a:solidFill>
                <a:schemeClr val="bg1"/>
              </a:solidFill>
            </a:endParaRPr>
          </a:p>
        </p:txBody>
      </p:sp>
      <p:sp>
        <p:nvSpPr>
          <p:cNvPr id="4" name="矩形: 圆角 13"/>
          <p:cNvSpPr/>
          <p:nvPr/>
        </p:nvSpPr>
        <p:spPr>
          <a:xfrm>
            <a:off x="157480" y="1004570"/>
            <a:ext cx="4662170" cy="5642610"/>
          </a:xfrm>
          <a:prstGeom prst="roundRect">
            <a:avLst/>
          </a:prstGeom>
          <a:solidFill>
            <a:schemeClr val="accent5">
              <a:alpha val="50000"/>
            </a:schemeClr>
          </a:solidFill>
          <a:ln w="28575">
            <a:solidFill>
              <a:schemeClr val="bg1"/>
            </a:solidFill>
            <a:prstDash val="sysDash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CN" sz="2400" dirty="0">
                <a:solidFill>
                  <a:schemeClr val="bg1"/>
                </a:solidFill>
              </a:rPr>
              <a:t>A* </a:t>
            </a:r>
            <a:r>
              <a:rPr lang="zh-CN" altLang="en-US" sz="2400" dirty="0">
                <a:solidFill>
                  <a:schemeClr val="bg1"/>
                </a:solidFill>
              </a:rPr>
              <a:t>算法（</a:t>
            </a:r>
            <a:r>
              <a:rPr lang="zh-CN" altLang="en-US" b="1" dirty="0"/>
              <a:t>有信息搜索</a:t>
            </a:r>
            <a:r>
              <a:rPr lang="zh-CN" altLang="en-US" sz="2400" dirty="0">
                <a:solidFill>
                  <a:schemeClr val="bg1"/>
                </a:solidFill>
              </a:rPr>
              <a:t>）</a:t>
            </a:r>
          </a:p>
          <a:p>
            <a:endParaRPr lang="zh-CN" altLang="en-US" dirty="0">
              <a:solidFill>
                <a:schemeClr val="bg1"/>
              </a:solidFill>
            </a:endParaRPr>
          </a:p>
          <a:p>
            <a:r>
              <a:rPr lang="zh-CN" altLang="en-US" sz="2000" dirty="0">
                <a:solidFill>
                  <a:schemeClr val="bg1"/>
                </a:solidFill>
              </a:rPr>
              <a:t>通过下面这个函数来计算每个节点的优先级：</a:t>
            </a:r>
          </a:p>
          <a:p>
            <a:r>
              <a:rPr lang="zh-CN" altLang="en-US" sz="2000" dirty="0">
                <a:solidFill>
                  <a:schemeClr val="bg1"/>
                </a:solidFill>
              </a:rPr>
              <a:t> </a:t>
            </a:r>
            <a:r>
              <a:rPr lang="en-US" altLang="zh-CN" sz="2000" dirty="0">
                <a:solidFill>
                  <a:schemeClr val="bg1"/>
                </a:solidFill>
              </a:rPr>
              <a:t>           </a:t>
            </a:r>
            <a:r>
              <a:rPr lang="zh-CN" altLang="en-US" sz="2000" dirty="0">
                <a:solidFill>
                  <a:schemeClr val="bg1"/>
                </a:solidFill>
                <a:sym typeface="+mn-ea"/>
              </a:rPr>
              <a:t>f(n)</a:t>
            </a:r>
            <a:r>
              <a:rPr lang="en-US" altLang="zh-CN" sz="2000" dirty="0">
                <a:solidFill>
                  <a:schemeClr val="bg1"/>
                </a:solidFill>
                <a:sym typeface="+mn-ea"/>
              </a:rPr>
              <a:t> = </a:t>
            </a:r>
            <a:r>
              <a:rPr lang="zh-CN" altLang="en-US" sz="2000" dirty="0">
                <a:solidFill>
                  <a:schemeClr val="bg1"/>
                </a:solidFill>
                <a:sym typeface="+mn-ea"/>
              </a:rPr>
              <a:t>g(n)</a:t>
            </a:r>
            <a:r>
              <a:rPr lang="en-US" altLang="zh-CN" sz="2000" dirty="0">
                <a:solidFill>
                  <a:schemeClr val="bg1"/>
                </a:solidFill>
                <a:sym typeface="+mn-ea"/>
              </a:rPr>
              <a:t> + </a:t>
            </a:r>
            <a:r>
              <a:rPr lang="zh-CN" altLang="en-US" sz="2000" dirty="0">
                <a:solidFill>
                  <a:schemeClr val="bg1"/>
                </a:solidFill>
                <a:sym typeface="+mn-ea"/>
              </a:rPr>
              <a:t>h(n)</a:t>
            </a:r>
            <a:br>
              <a:rPr lang="en-US" altLang="zh-CN" sz="2000" dirty="0">
                <a:solidFill>
                  <a:schemeClr val="bg1"/>
                </a:solidFill>
                <a:sym typeface="+mn-ea"/>
              </a:rPr>
            </a:br>
            <a:endParaRPr lang="zh-CN" altLang="en-US" sz="2000" dirty="0">
              <a:solidFill>
                <a:schemeClr val="bg1"/>
              </a:solidFill>
            </a:endParaRPr>
          </a:p>
          <a:p>
            <a:endParaRPr lang="zh-CN" altLang="en-US" sz="2000" dirty="0">
              <a:solidFill>
                <a:schemeClr val="bg1"/>
              </a:solidFill>
            </a:endParaRPr>
          </a:p>
          <a:p>
            <a:r>
              <a:rPr lang="zh-CN" altLang="en-US" sz="2000" dirty="0">
                <a:solidFill>
                  <a:schemeClr val="bg1"/>
                </a:solidFill>
              </a:rPr>
              <a:t>其中：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sz="2000" dirty="0">
                <a:solidFill>
                  <a:schemeClr val="bg1"/>
                </a:solidFill>
              </a:rPr>
              <a:t>f(n)是节点n的综合优先级。当我们选择下一个要遍历的节点时，我们总会选取综合优先级最高（值最小）的节点。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sz="2000" dirty="0">
                <a:solidFill>
                  <a:schemeClr val="bg1"/>
                </a:solidFill>
              </a:rPr>
              <a:t>g(n) 是节点n距离起点的代价。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sz="2000" dirty="0">
                <a:solidFill>
                  <a:schemeClr val="bg1"/>
                </a:solidFill>
              </a:rPr>
              <a:t>h(n)是节点n距离终点的预计代价，这也就是A*算法的启发函数</a:t>
            </a:r>
            <a:r>
              <a:rPr lang="zh-CN" altLang="en-US" dirty="0">
                <a:solidFill>
                  <a:schemeClr val="bg1"/>
                </a:solidFill>
              </a:rPr>
              <a:t>。</a:t>
            </a:r>
          </a:p>
          <a:p>
            <a:r>
              <a:rPr lang="en-US" altLang="zh-CN" dirty="0">
                <a:solidFill>
                  <a:schemeClr val="bg1"/>
                </a:solidFill>
              </a:rPr>
              <a:t>  </a:t>
            </a:r>
            <a:endParaRPr lang="zh-CN" altLang="en-US" dirty="0">
              <a:solidFill>
                <a:schemeClr val="bg1"/>
              </a:solidFill>
            </a:endParaRPr>
          </a:p>
          <a:p>
            <a:endParaRPr lang="zh-CN" altLang="en-US" dirty="0">
              <a:solidFill>
                <a:schemeClr val="bg1"/>
              </a:solidFill>
            </a:endParaRPr>
          </a:p>
        </p:txBody>
      </p:sp>
      <p:pic>
        <p:nvPicPr>
          <p:cNvPr id="5" name="图片 4" descr="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67575" y="1024890"/>
            <a:ext cx="3627120" cy="555879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random/>
      </p:transition>
    </mc:Choice>
    <mc:Fallback xmlns="">
      <p:transition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4" grpId="0"/>
      <p:bldP spid="39" grpId="0" bldLvl="0" animBg="1"/>
      <p:bldP spid="4" grpId="0" bldLvl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9341" cy="819150"/>
          </a:xfrm>
          <a:prstGeom prst="rect">
            <a:avLst/>
          </a:prstGeom>
        </p:spPr>
      </p:pic>
      <p:pic>
        <p:nvPicPr>
          <p:cNvPr id="3" name="图片 2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36654" y="0"/>
            <a:ext cx="2452687" cy="829976"/>
          </a:xfrm>
          <a:prstGeom prst="rect">
            <a:avLst/>
          </a:prstGeom>
        </p:spPr>
      </p:pic>
      <p:sp>
        <p:nvSpPr>
          <p:cNvPr id="16" name="矩形: 圆角 15"/>
          <p:cNvSpPr/>
          <p:nvPr/>
        </p:nvSpPr>
        <p:spPr>
          <a:xfrm>
            <a:off x="472440" y="1129665"/>
            <a:ext cx="4808220" cy="3503930"/>
          </a:xfrm>
          <a:prstGeom prst="roundRect">
            <a:avLst/>
          </a:prstGeom>
          <a:solidFill>
            <a:schemeClr val="accent5">
              <a:alpha val="50000"/>
            </a:schemeClr>
          </a:solidFill>
          <a:ln w="28575">
            <a:solidFill>
              <a:schemeClr val="bg1"/>
            </a:solidFill>
            <a:prstDash val="sysDash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lnSpc>
                <a:spcPct val="110000"/>
              </a:lnSpc>
            </a:pPr>
            <a:r>
              <a:rPr lang="en-US" altLang="zh-CN" sz="2400" dirty="0">
                <a:solidFill>
                  <a:schemeClr val="bg1"/>
                </a:solidFill>
              </a:rPr>
              <a:t>1.</a:t>
            </a:r>
            <a:r>
              <a:rPr lang="zh-CN" altLang="en-US" sz="2400" dirty="0">
                <a:solidFill>
                  <a:schemeClr val="bg1"/>
                </a:solidFill>
              </a:rPr>
              <a:t>给出各种搜索算法得到的具体路径、相应的代价、经过的节点数</a:t>
            </a:r>
            <a:endParaRPr lang="en-US" altLang="zh-CN" sz="2400" dirty="0">
              <a:solidFill>
                <a:schemeClr val="bg1"/>
              </a:solidFill>
            </a:endParaRPr>
          </a:p>
          <a:p>
            <a:pPr algn="l">
              <a:lnSpc>
                <a:spcPct val="110000"/>
              </a:lnSpc>
            </a:pPr>
            <a:r>
              <a:rPr lang="en-US" altLang="zh-CN" sz="2400" dirty="0">
                <a:solidFill>
                  <a:schemeClr val="bg1"/>
                </a:solidFill>
              </a:rPr>
              <a:t>2.</a:t>
            </a:r>
            <a:r>
              <a:rPr lang="zh-CN" altLang="en-US" sz="2400" dirty="0">
                <a:solidFill>
                  <a:schemeClr val="bg1"/>
                </a:solidFill>
              </a:rPr>
              <a:t>这几种方法效果做对比，例如时间维度</a:t>
            </a:r>
          </a:p>
          <a:p>
            <a:pPr algn="l">
              <a:lnSpc>
                <a:spcPct val="110000"/>
              </a:lnSpc>
            </a:pPr>
            <a:endParaRPr lang="zh-CN" altLang="en-US" sz="2400" dirty="0">
              <a:solidFill>
                <a:schemeClr val="bg1"/>
              </a:solidFill>
            </a:endParaRPr>
          </a:p>
          <a:p>
            <a:pPr algn="l">
              <a:lnSpc>
                <a:spcPct val="110000"/>
              </a:lnSpc>
            </a:pPr>
            <a:r>
              <a:rPr lang="zh-CN" altLang="en-US" sz="2400" dirty="0">
                <a:solidFill>
                  <a:schemeClr val="bg1"/>
                </a:solidFill>
              </a:rPr>
              <a:t>加分项：交互性界面，可自选出发地和目标地</a:t>
            </a:r>
          </a:p>
        </p:txBody>
      </p:sp>
      <p:sp>
        <p:nvSpPr>
          <p:cNvPr id="19" name="文本框 18"/>
          <p:cNvSpPr txBox="1"/>
          <p:nvPr/>
        </p:nvSpPr>
        <p:spPr>
          <a:xfrm>
            <a:off x="79898" y="24854"/>
            <a:ext cx="4850105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4400" dirty="0"/>
              <a:t>实验要求</a:t>
            </a:r>
          </a:p>
        </p:txBody>
      </p:sp>
      <p:sp>
        <p:nvSpPr>
          <p:cNvPr id="9" name="矩形: 圆角 15"/>
          <p:cNvSpPr/>
          <p:nvPr/>
        </p:nvSpPr>
        <p:spPr>
          <a:xfrm>
            <a:off x="627380" y="5256530"/>
            <a:ext cx="2934970" cy="567055"/>
          </a:xfrm>
          <a:prstGeom prst="roundRect">
            <a:avLst/>
          </a:prstGeom>
          <a:solidFill>
            <a:schemeClr val="accent5">
              <a:alpha val="50000"/>
            </a:schemeClr>
          </a:solidFill>
          <a:ln w="28575">
            <a:solidFill>
              <a:schemeClr val="bg1"/>
            </a:solidFill>
            <a:prstDash val="sysDash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2400" dirty="0">
                <a:solidFill>
                  <a:schemeClr val="bg1"/>
                </a:solidFill>
              </a:rPr>
              <a:t>编程语言不限</a:t>
            </a: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539740" y="1129665"/>
            <a:ext cx="6506210" cy="4686300"/>
          </a:xfrm>
          <a:prstGeom prst="rect">
            <a:avLst/>
          </a:prstGeom>
        </p:spPr>
      </p:pic>
      <p:sp>
        <p:nvSpPr>
          <p:cNvPr id="5" name="矩形 4"/>
          <p:cNvSpPr/>
          <p:nvPr/>
        </p:nvSpPr>
        <p:spPr>
          <a:xfrm>
            <a:off x="5727404" y="2388782"/>
            <a:ext cx="517452" cy="219739"/>
          </a:xfrm>
          <a:prstGeom prst="rect">
            <a:avLst/>
          </a:prstGeom>
          <a:noFill/>
          <a:ln w="1905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矩形 5"/>
          <p:cNvSpPr/>
          <p:nvPr/>
        </p:nvSpPr>
        <p:spPr>
          <a:xfrm>
            <a:off x="8856921" y="4051005"/>
            <a:ext cx="756000" cy="219739"/>
          </a:xfrm>
          <a:prstGeom prst="rect">
            <a:avLst/>
          </a:prstGeom>
          <a:noFill/>
          <a:ln w="1905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random/>
      </p:transition>
    </mc:Choice>
    <mc:Fallback xmlns="">
      <p:transition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bldLvl="0" animBg="1"/>
      <p:bldP spid="19" grpId="0"/>
      <p:bldP spid="9" grpId="0" bldLvl="0" animBg="1"/>
      <p:bldP spid="5" grpId="0" animBg="1"/>
      <p:bldP spid="6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9341" cy="819150"/>
          </a:xfrm>
          <a:prstGeom prst="rect">
            <a:avLst/>
          </a:prstGeom>
        </p:spPr>
      </p:pic>
      <p:pic>
        <p:nvPicPr>
          <p:cNvPr id="3" name="图片 2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36654" y="0"/>
            <a:ext cx="2452687" cy="829976"/>
          </a:xfrm>
          <a:prstGeom prst="rect">
            <a:avLst/>
          </a:prstGeom>
        </p:spPr>
      </p:pic>
      <p:sp>
        <p:nvSpPr>
          <p:cNvPr id="19" name="文本框 18"/>
          <p:cNvSpPr txBox="1"/>
          <p:nvPr/>
        </p:nvSpPr>
        <p:spPr>
          <a:xfrm>
            <a:off x="79898" y="24854"/>
            <a:ext cx="4850105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4400" dirty="0"/>
              <a:t>代码示例</a:t>
            </a:r>
          </a:p>
        </p:txBody>
      </p:sp>
      <p:sp>
        <p:nvSpPr>
          <p:cNvPr id="5" name="矩形: 圆角 13"/>
          <p:cNvSpPr/>
          <p:nvPr/>
        </p:nvSpPr>
        <p:spPr>
          <a:xfrm>
            <a:off x="224328" y="953952"/>
            <a:ext cx="5732523" cy="819150"/>
          </a:xfrm>
          <a:prstGeom prst="roundRect">
            <a:avLst/>
          </a:prstGeom>
          <a:solidFill>
            <a:schemeClr val="accent5">
              <a:alpha val="50000"/>
            </a:schemeClr>
          </a:solidFill>
          <a:ln w="28575">
            <a:solidFill>
              <a:schemeClr val="bg1"/>
            </a:solidFill>
            <a:prstDash val="sysDash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2400" dirty="0">
                <a:solidFill>
                  <a:schemeClr val="bg1"/>
                </a:solidFill>
              </a:rPr>
              <a:t>广度优先搜索代码示例（基于</a:t>
            </a:r>
            <a:r>
              <a:rPr lang="en-US" altLang="zh-CN" sz="2400" dirty="0">
                <a:solidFill>
                  <a:schemeClr val="bg1"/>
                </a:solidFill>
              </a:rPr>
              <a:t>Python</a:t>
            </a:r>
            <a:r>
              <a:rPr lang="zh-CN" altLang="en-US" sz="2400" dirty="0">
                <a:solidFill>
                  <a:schemeClr val="bg1"/>
                </a:solidFill>
              </a:rPr>
              <a:t>）</a:t>
            </a:r>
            <a:endParaRPr lang="zh-CN" altLang="en-US" sz="2000" dirty="0">
              <a:solidFill>
                <a:schemeClr val="bg1"/>
              </a:solidFill>
            </a:endParaRPr>
          </a:p>
        </p:txBody>
      </p:sp>
      <p:sp>
        <p:nvSpPr>
          <p:cNvPr id="6" name="矩形: 圆角 13"/>
          <p:cNvSpPr/>
          <p:nvPr/>
        </p:nvSpPr>
        <p:spPr>
          <a:xfrm>
            <a:off x="224328" y="1974370"/>
            <a:ext cx="9512326" cy="819150"/>
          </a:xfrm>
          <a:prstGeom prst="roundRect">
            <a:avLst/>
          </a:prstGeom>
          <a:solidFill>
            <a:schemeClr val="tx1">
              <a:alpha val="50000"/>
            </a:schemeClr>
          </a:solidFill>
          <a:ln w="28575">
            <a:solidFill>
              <a:schemeClr val="bg1"/>
            </a:solidFill>
            <a:prstDash val="sysDash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CN" sz="16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import </a:t>
            </a:r>
            <a:r>
              <a:rPr lang="en-US" altLang="zh-CN" sz="16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networkx</a:t>
            </a:r>
            <a:r>
              <a:rPr lang="en-US" altLang="zh-CN" sz="16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as </a:t>
            </a:r>
            <a:r>
              <a:rPr lang="en-US" altLang="zh-CN" sz="16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nx</a:t>
            </a:r>
            <a:r>
              <a:rPr lang="en-US" altLang="zh-CN" sz="16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#</a:t>
            </a:r>
            <a:r>
              <a:rPr lang="zh-CN" altLang="en-US" sz="16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使用</a:t>
            </a:r>
            <a:r>
              <a:rPr lang="en-US" altLang="zh-CN" sz="16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networkx</a:t>
            </a:r>
            <a:r>
              <a:rPr lang="zh-CN" altLang="en-US" sz="16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库来构建节点图</a:t>
            </a:r>
            <a:endParaRPr lang="en-US" altLang="zh-CN" sz="16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矩形: 圆角 13"/>
          <p:cNvSpPr/>
          <p:nvPr/>
        </p:nvSpPr>
        <p:spPr>
          <a:xfrm>
            <a:off x="224327" y="3118763"/>
            <a:ext cx="11901412" cy="3507323"/>
          </a:xfrm>
          <a:prstGeom prst="roundRect">
            <a:avLst/>
          </a:prstGeom>
          <a:solidFill>
            <a:schemeClr val="tx1">
              <a:alpha val="50000"/>
            </a:schemeClr>
          </a:solidFill>
          <a:ln w="28575">
            <a:solidFill>
              <a:schemeClr val="bg1"/>
            </a:solidFill>
            <a:prstDash val="sysDash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CN" sz="16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# </a:t>
            </a:r>
            <a:r>
              <a:rPr lang="zh-CN" altLang="en-US" sz="16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构建城市信息</a:t>
            </a:r>
          </a:p>
          <a:p>
            <a:r>
              <a:rPr lang="en-US" altLang="zh-CN" sz="16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city_data</a:t>
            </a:r>
            <a:r>
              <a:rPr lang="en-US" altLang="zh-CN" sz="16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= {</a:t>
            </a:r>
          </a:p>
          <a:p>
            <a:r>
              <a:rPr lang="en-US" altLang="zh-CN" sz="16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'Arad': [('</a:t>
            </a:r>
            <a:r>
              <a:rPr lang="en-US" altLang="zh-CN" sz="16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Zerind</a:t>
            </a:r>
            <a:r>
              <a:rPr lang="en-US" altLang="zh-CN" sz="16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', 75), ('Sibiu', 140), ('Timisoara', 118)],'</a:t>
            </a:r>
            <a:r>
              <a:rPr lang="en-US" altLang="zh-CN" sz="16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Zerind</a:t>
            </a:r>
            <a:r>
              <a:rPr lang="en-US" altLang="zh-CN" sz="16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': [('Arad', 75), ('Oradea', 71)],'Sibiu': [('Arad', 140), ('Oradea', 151), ('</a:t>
            </a:r>
            <a:r>
              <a:rPr lang="en-US" altLang="zh-CN" sz="16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Fagaras</a:t>
            </a:r>
            <a:r>
              <a:rPr lang="en-US" altLang="zh-CN" sz="16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', 99), ('</a:t>
            </a:r>
            <a:r>
              <a:rPr lang="en-US" altLang="zh-CN" sz="16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Rimnicu</a:t>
            </a:r>
            <a:r>
              <a:rPr lang="en-US" altLang="zh-CN" sz="16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', 80)], 'Timisoara': [('Arad', 118), ('Lugoj', 111)],</a:t>
            </a:r>
          </a:p>
          <a:p>
            <a:r>
              <a:rPr lang="en-US" altLang="zh-CN" sz="16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'Bucharest': [('</a:t>
            </a:r>
            <a:r>
              <a:rPr lang="en-US" altLang="zh-CN" sz="16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Fagaras</a:t>
            </a:r>
            <a:r>
              <a:rPr lang="en-US" altLang="zh-CN" sz="16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', 211), ('Pitesti', 101), ('Giurgiu', 90), ('Urziceni', 85)],'Urziceni': [('Bucharest', 85), </a:t>
            </a:r>
          </a:p>
          <a:p>
            <a:r>
              <a:rPr lang="en-US" altLang="zh-CN" sz="16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(‘</a:t>
            </a:r>
            <a:r>
              <a:rPr lang="en-US" altLang="zh-CN" sz="16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Hirsova</a:t>
            </a:r>
            <a:r>
              <a:rPr lang="en-US" altLang="zh-CN" sz="16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’, 98), (‘</a:t>
            </a:r>
            <a:r>
              <a:rPr lang="en-US" altLang="zh-CN" sz="16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Vaslui</a:t>
            </a:r>
            <a:r>
              <a:rPr lang="en-US" altLang="zh-CN" sz="16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', 142)], 'Craiova': [('</a:t>
            </a:r>
            <a:r>
              <a:rPr lang="en-US" altLang="zh-CN" sz="16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Drobeta</a:t>
            </a:r>
            <a:r>
              <a:rPr lang="en-US" altLang="zh-CN" sz="16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', 120), ('</a:t>
            </a:r>
            <a:r>
              <a:rPr lang="en-US" altLang="zh-CN" sz="16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Rimnicu</a:t>
            </a:r>
            <a:r>
              <a:rPr lang="en-US" altLang="zh-CN" sz="16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', 146), ('Pitesti', 138)],</a:t>
            </a:r>
          </a:p>
          <a:p>
            <a:r>
              <a:rPr lang="en-US" altLang="zh-CN" sz="16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'</a:t>
            </a:r>
            <a:r>
              <a:rPr lang="en-US" altLang="zh-CN" sz="16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Drobeta</a:t>
            </a:r>
            <a:r>
              <a:rPr lang="en-US" altLang="zh-CN" sz="16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': [('</a:t>
            </a:r>
            <a:r>
              <a:rPr lang="en-US" altLang="zh-CN" sz="16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Mehadia</a:t>
            </a:r>
            <a:r>
              <a:rPr lang="en-US" altLang="zh-CN" sz="16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', 75), ('Craiova', 120)],'</a:t>
            </a:r>
            <a:r>
              <a:rPr lang="en-US" altLang="zh-CN" sz="16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Eforie</a:t>
            </a:r>
            <a:r>
              <a:rPr lang="en-US" altLang="zh-CN" sz="16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': [('</a:t>
            </a:r>
            <a:r>
              <a:rPr lang="en-US" altLang="zh-CN" sz="16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Hirsova</a:t>
            </a:r>
            <a:r>
              <a:rPr lang="en-US" altLang="zh-CN" sz="16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', 86)],'</a:t>
            </a:r>
            <a:r>
              <a:rPr lang="en-US" altLang="zh-CN" sz="16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Fagaras</a:t>
            </a:r>
            <a:r>
              <a:rPr lang="en-US" altLang="zh-CN" sz="16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': [('Sibiu', 99), ('Bucharest', 211)],</a:t>
            </a:r>
          </a:p>
          <a:p>
            <a:r>
              <a:rPr lang="en-US" altLang="zh-CN" sz="16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'Giurgiu': [('Bucharest', 90)],'</a:t>
            </a:r>
            <a:r>
              <a:rPr lang="en-US" altLang="zh-CN" sz="16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Hirsova</a:t>
            </a:r>
            <a:r>
              <a:rPr lang="en-US" altLang="zh-CN" sz="16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': [('Urziceni', 98), ('</a:t>
            </a:r>
            <a:r>
              <a:rPr lang="en-US" altLang="zh-CN" sz="16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Eforie</a:t>
            </a:r>
            <a:r>
              <a:rPr lang="en-US" altLang="zh-CN" sz="16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', 86)],'Iasi': [('</a:t>
            </a:r>
            <a:r>
              <a:rPr lang="en-US" altLang="zh-CN" sz="16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Vaslui</a:t>
            </a:r>
            <a:r>
              <a:rPr lang="en-US" altLang="zh-CN" sz="16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', 92), ('</a:t>
            </a:r>
            <a:r>
              <a:rPr lang="en-US" altLang="zh-CN" sz="16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Neamt</a:t>
            </a:r>
            <a:r>
              <a:rPr lang="en-US" altLang="zh-CN" sz="16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', 87)],</a:t>
            </a:r>
          </a:p>
          <a:p>
            <a:r>
              <a:rPr lang="en-US" altLang="zh-CN" sz="16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'Lugoj': [('Timisoara', 111), ('</a:t>
            </a:r>
            <a:r>
              <a:rPr lang="en-US" altLang="zh-CN" sz="16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Mehadia</a:t>
            </a:r>
            <a:r>
              <a:rPr lang="en-US" altLang="zh-CN" sz="16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', 70)],'</a:t>
            </a:r>
            <a:r>
              <a:rPr lang="en-US" altLang="zh-CN" sz="16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Mehadia</a:t>
            </a:r>
            <a:r>
              <a:rPr lang="en-US" altLang="zh-CN" sz="16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': [('Lugoj', 70), ('</a:t>
            </a:r>
            <a:r>
              <a:rPr lang="en-US" altLang="zh-CN" sz="16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Drobeta</a:t>
            </a:r>
            <a:r>
              <a:rPr lang="en-US" altLang="zh-CN" sz="16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', 75)],'</a:t>
            </a:r>
            <a:r>
              <a:rPr lang="en-US" altLang="zh-CN" sz="16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Neamt</a:t>
            </a:r>
            <a:r>
              <a:rPr lang="en-US" altLang="zh-CN" sz="16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': [('Iasi', 87)],</a:t>
            </a:r>
          </a:p>
          <a:p>
            <a:r>
              <a:rPr lang="en-US" altLang="zh-CN" sz="16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'Oradea': [('</a:t>
            </a:r>
            <a:r>
              <a:rPr lang="en-US" altLang="zh-CN" sz="16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Zerind</a:t>
            </a:r>
            <a:r>
              <a:rPr lang="en-US" altLang="zh-CN" sz="16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', 71), ('Sibiu', 151)],'Pitesti': [('</a:t>
            </a:r>
            <a:r>
              <a:rPr lang="en-US" altLang="zh-CN" sz="16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Rimnicu</a:t>
            </a:r>
            <a:r>
              <a:rPr lang="en-US" altLang="zh-CN" sz="16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', 97), ('Bucharest', 101), ('Craiova', 138)],</a:t>
            </a:r>
          </a:p>
          <a:p>
            <a:r>
              <a:rPr lang="en-US" altLang="zh-CN" sz="16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'</a:t>
            </a:r>
            <a:r>
              <a:rPr lang="en-US" altLang="zh-CN" sz="16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Rimnicu</a:t>
            </a:r>
            <a:r>
              <a:rPr lang="en-US" altLang="zh-CN" sz="16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': [('Sibiu', 80), ('Pitesti', 97), ('Craiova', 146)],'Sibiu': [('</a:t>
            </a:r>
            <a:r>
              <a:rPr lang="en-US" altLang="zh-CN" sz="16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Rimnicu</a:t>
            </a:r>
            <a:r>
              <a:rPr lang="en-US" altLang="zh-CN" sz="16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', 80), ('</a:t>
            </a:r>
            <a:r>
              <a:rPr lang="en-US" altLang="zh-CN" sz="16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Fagaras</a:t>
            </a:r>
            <a:r>
              <a:rPr lang="en-US" altLang="zh-CN" sz="16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', 99), ('Arad', 140), ('Oradea', 151)],</a:t>
            </a:r>
          </a:p>
          <a:p>
            <a:r>
              <a:rPr lang="en-US" altLang="zh-CN" sz="16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'Timisoara': [('Lugoj', 111), ('Arad', 118)],'Urziceni': [('</a:t>
            </a:r>
            <a:r>
              <a:rPr lang="en-US" altLang="zh-CN" sz="16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Vaslui</a:t>
            </a:r>
            <a:r>
              <a:rPr lang="en-US" altLang="zh-CN" sz="16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', 142), ('Bucharest', 85), ('</a:t>
            </a:r>
            <a:r>
              <a:rPr lang="en-US" altLang="zh-CN" sz="16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Hirsova</a:t>
            </a:r>
            <a:r>
              <a:rPr lang="en-US" altLang="zh-CN" sz="16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', 98)],</a:t>
            </a:r>
          </a:p>
          <a:p>
            <a:r>
              <a:rPr lang="en-US" altLang="zh-CN" sz="16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'</a:t>
            </a:r>
            <a:r>
              <a:rPr lang="en-US" altLang="zh-CN" sz="16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Vaslui</a:t>
            </a:r>
            <a:r>
              <a:rPr lang="en-US" altLang="zh-CN" sz="16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': [('Iasi', 92), ('Urziceni', 142)],'</a:t>
            </a:r>
            <a:r>
              <a:rPr lang="en-US" altLang="zh-CN" sz="16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Zerind</a:t>
            </a:r>
            <a:r>
              <a:rPr lang="en-US" altLang="zh-CN" sz="16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': [('Oradea', 71), ('Arad', 75)],}</a:t>
            </a:r>
            <a:endParaRPr lang="zh-CN" altLang="en-US" sz="16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random/>
      </p:transition>
    </mc:Choice>
    <mc:Fallback xmlns="">
      <p:transition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5" grpId="0" bldLvl="0" animBg="1"/>
      <p:bldP spid="6" grpId="0" bldLvl="0" animBg="1"/>
      <p:bldP spid="7" grpId="0" bldLvl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9341" cy="819150"/>
          </a:xfrm>
          <a:prstGeom prst="rect">
            <a:avLst/>
          </a:prstGeom>
        </p:spPr>
      </p:pic>
      <p:pic>
        <p:nvPicPr>
          <p:cNvPr id="3" name="图片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36654" y="0"/>
            <a:ext cx="2452687" cy="829976"/>
          </a:xfrm>
          <a:prstGeom prst="rect">
            <a:avLst/>
          </a:prstGeom>
        </p:spPr>
      </p:pic>
      <p:sp>
        <p:nvSpPr>
          <p:cNvPr id="19" name="文本框 18"/>
          <p:cNvSpPr txBox="1"/>
          <p:nvPr/>
        </p:nvSpPr>
        <p:spPr>
          <a:xfrm>
            <a:off x="79898" y="24854"/>
            <a:ext cx="4850105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4400" dirty="0"/>
              <a:t>代码示例</a:t>
            </a:r>
          </a:p>
        </p:txBody>
      </p:sp>
      <p:sp>
        <p:nvSpPr>
          <p:cNvPr id="7" name="矩形: 圆角 13"/>
          <p:cNvSpPr/>
          <p:nvPr/>
        </p:nvSpPr>
        <p:spPr>
          <a:xfrm>
            <a:off x="1760924" y="844004"/>
            <a:ext cx="3169079" cy="5948511"/>
          </a:xfrm>
          <a:prstGeom prst="roundRect">
            <a:avLst/>
          </a:prstGeom>
          <a:solidFill>
            <a:schemeClr val="tx1">
              <a:alpha val="50000"/>
            </a:schemeClr>
          </a:solidFill>
          <a:ln w="28575">
            <a:solidFill>
              <a:schemeClr val="bg1"/>
            </a:solidFill>
            <a:prstDash val="sysDash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CN" sz="1600" dirty="0">
                <a:solidFill>
                  <a:schemeClr val="bg1"/>
                </a:solidFill>
              </a:rPr>
              <a:t># </a:t>
            </a:r>
            <a:r>
              <a:rPr lang="zh-CN" altLang="en-US" sz="1600" dirty="0">
                <a:solidFill>
                  <a:schemeClr val="bg1"/>
                </a:solidFill>
              </a:rPr>
              <a:t>构建城市位置坐标</a:t>
            </a:r>
            <a:endParaRPr lang="en-US" altLang="zh-CN" sz="1600" dirty="0">
              <a:solidFill>
                <a:schemeClr val="bg1"/>
              </a:solidFill>
            </a:endParaRPr>
          </a:p>
          <a:p>
            <a:r>
              <a:rPr lang="en-US" altLang="zh-CN" sz="1600" dirty="0" err="1">
                <a:solidFill>
                  <a:schemeClr val="bg1"/>
                </a:solidFill>
              </a:rPr>
              <a:t>city_coordinates</a:t>
            </a:r>
            <a:r>
              <a:rPr lang="en-US" altLang="zh-CN" sz="1600" dirty="0">
                <a:solidFill>
                  <a:schemeClr val="bg1"/>
                </a:solidFill>
              </a:rPr>
              <a:t> = {</a:t>
            </a:r>
          </a:p>
          <a:p>
            <a:r>
              <a:rPr lang="en-US" altLang="zh-CN" sz="1600" dirty="0">
                <a:solidFill>
                  <a:schemeClr val="bg1"/>
                </a:solidFill>
              </a:rPr>
              <a:t>    'Arad': (91, 492),</a:t>
            </a:r>
          </a:p>
          <a:p>
            <a:r>
              <a:rPr lang="en-US" altLang="zh-CN" sz="1600" dirty="0">
                <a:solidFill>
                  <a:schemeClr val="bg1"/>
                </a:solidFill>
              </a:rPr>
              <a:t>    'Bucharest': (400, 327),</a:t>
            </a:r>
          </a:p>
          <a:p>
            <a:r>
              <a:rPr lang="en-US" altLang="zh-CN" sz="1600" dirty="0">
                <a:solidFill>
                  <a:schemeClr val="bg1"/>
                </a:solidFill>
              </a:rPr>
              <a:t>    'Craiova': (253, 288),</a:t>
            </a:r>
          </a:p>
          <a:p>
            <a:r>
              <a:rPr lang="en-US" altLang="zh-CN" sz="1600" dirty="0">
                <a:solidFill>
                  <a:schemeClr val="bg1"/>
                </a:solidFill>
              </a:rPr>
              <a:t>    '</a:t>
            </a:r>
            <a:r>
              <a:rPr lang="en-US" altLang="zh-CN" sz="1600" dirty="0" err="1">
                <a:solidFill>
                  <a:schemeClr val="bg1"/>
                </a:solidFill>
              </a:rPr>
              <a:t>Drobeta</a:t>
            </a:r>
            <a:r>
              <a:rPr lang="en-US" altLang="zh-CN" sz="1600" dirty="0">
                <a:solidFill>
                  <a:schemeClr val="bg1"/>
                </a:solidFill>
              </a:rPr>
              <a:t>': (165, 299),</a:t>
            </a:r>
          </a:p>
          <a:p>
            <a:r>
              <a:rPr lang="en-US" altLang="zh-CN" sz="1600" dirty="0">
                <a:solidFill>
                  <a:schemeClr val="bg1"/>
                </a:solidFill>
              </a:rPr>
              <a:t>    '</a:t>
            </a:r>
            <a:r>
              <a:rPr lang="en-US" altLang="zh-CN" sz="1600" dirty="0" err="1">
                <a:solidFill>
                  <a:schemeClr val="bg1"/>
                </a:solidFill>
              </a:rPr>
              <a:t>Eforie</a:t>
            </a:r>
            <a:r>
              <a:rPr lang="en-US" altLang="zh-CN" sz="1600" dirty="0">
                <a:solidFill>
                  <a:schemeClr val="bg1"/>
                </a:solidFill>
              </a:rPr>
              <a:t>': (562, 293),</a:t>
            </a:r>
          </a:p>
          <a:p>
            <a:r>
              <a:rPr lang="en-US" altLang="zh-CN" sz="1600" dirty="0">
                <a:solidFill>
                  <a:schemeClr val="bg1"/>
                </a:solidFill>
              </a:rPr>
              <a:t>    '</a:t>
            </a:r>
            <a:r>
              <a:rPr lang="en-US" altLang="zh-CN" sz="1600" dirty="0" err="1">
                <a:solidFill>
                  <a:schemeClr val="bg1"/>
                </a:solidFill>
              </a:rPr>
              <a:t>Fagaras</a:t>
            </a:r>
            <a:r>
              <a:rPr lang="en-US" altLang="zh-CN" sz="1600" dirty="0">
                <a:solidFill>
                  <a:schemeClr val="bg1"/>
                </a:solidFill>
              </a:rPr>
              <a:t>': (305, 449),</a:t>
            </a:r>
          </a:p>
          <a:p>
            <a:r>
              <a:rPr lang="en-US" altLang="zh-CN" sz="1600" dirty="0">
                <a:solidFill>
                  <a:schemeClr val="bg1"/>
                </a:solidFill>
              </a:rPr>
              <a:t>    'Giurgiu': (375, 270),</a:t>
            </a:r>
          </a:p>
          <a:p>
            <a:r>
              <a:rPr lang="en-US" altLang="zh-CN" sz="1600" dirty="0">
                <a:solidFill>
                  <a:schemeClr val="bg1"/>
                </a:solidFill>
              </a:rPr>
              <a:t>    '</a:t>
            </a:r>
            <a:r>
              <a:rPr lang="en-US" altLang="zh-CN" sz="1600" dirty="0" err="1">
                <a:solidFill>
                  <a:schemeClr val="bg1"/>
                </a:solidFill>
              </a:rPr>
              <a:t>Hirsova</a:t>
            </a:r>
            <a:r>
              <a:rPr lang="en-US" altLang="zh-CN" sz="1600" dirty="0">
                <a:solidFill>
                  <a:schemeClr val="bg1"/>
                </a:solidFill>
              </a:rPr>
              <a:t>': (534, 350),</a:t>
            </a:r>
          </a:p>
          <a:p>
            <a:r>
              <a:rPr lang="en-US" altLang="zh-CN" sz="1600" dirty="0">
                <a:solidFill>
                  <a:schemeClr val="bg1"/>
                </a:solidFill>
              </a:rPr>
              <a:t>    'Iasi': (473, 506),</a:t>
            </a:r>
          </a:p>
          <a:p>
            <a:r>
              <a:rPr lang="en-US" altLang="zh-CN" sz="1600" dirty="0">
                <a:solidFill>
                  <a:schemeClr val="bg1"/>
                </a:solidFill>
              </a:rPr>
              <a:t>    'Lugoj': (165, 379),</a:t>
            </a:r>
          </a:p>
          <a:p>
            <a:r>
              <a:rPr lang="en-US" altLang="zh-CN" sz="1600" dirty="0">
                <a:solidFill>
                  <a:schemeClr val="bg1"/>
                </a:solidFill>
              </a:rPr>
              <a:t>    '</a:t>
            </a:r>
            <a:r>
              <a:rPr lang="en-US" altLang="zh-CN" sz="1600" dirty="0" err="1">
                <a:solidFill>
                  <a:schemeClr val="bg1"/>
                </a:solidFill>
              </a:rPr>
              <a:t>Mehadia</a:t>
            </a:r>
            <a:r>
              <a:rPr lang="en-US" altLang="zh-CN" sz="1600" dirty="0">
                <a:solidFill>
                  <a:schemeClr val="bg1"/>
                </a:solidFill>
              </a:rPr>
              <a:t>': (168, 339),</a:t>
            </a:r>
          </a:p>
          <a:p>
            <a:r>
              <a:rPr lang="en-US" altLang="zh-CN" sz="1600" dirty="0">
                <a:solidFill>
                  <a:schemeClr val="bg1"/>
                </a:solidFill>
              </a:rPr>
              <a:t>    '</a:t>
            </a:r>
            <a:r>
              <a:rPr lang="en-US" altLang="zh-CN" sz="1600" dirty="0" err="1">
                <a:solidFill>
                  <a:schemeClr val="bg1"/>
                </a:solidFill>
              </a:rPr>
              <a:t>Neamt</a:t>
            </a:r>
            <a:r>
              <a:rPr lang="en-US" altLang="zh-CN" sz="1600" dirty="0">
                <a:solidFill>
                  <a:schemeClr val="bg1"/>
                </a:solidFill>
              </a:rPr>
              <a:t>': (406, 537),</a:t>
            </a:r>
          </a:p>
          <a:p>
            <a:r>
              <a:rPr lang="en-US" altLang="zh-CN" sz="1600" dirty="0">
                <a:solidFill>
                  <a:schemeClr val="bg1"/>
                </a:solidFill>
              </a:rPr>
              <a:t>    'Oradea': (131, 571),</a:t>
            </a:r>
          </a:p>
          <a:p>
            <a:r>
              <a:rPr lang="en-US" altLang="zh-CN" sz="1600" dirty="0">
                <a:solidFill>
                  <a:schemeClr val="bg1"/>
                </a:solidFill>
              </a:rPr>
              <a:t>    'Pitesti': (320, 368),</a:t>
            </a:r>
          </a:p>
          <a:p>
            <a:r>
              <a:rPr lang="en-US" altLang="zh-CN" sz="1600" dirty="0">
                <a:solidFill>
                  <a:schemeClr val="bg1"/>
                </a:solidFill>
              </a:rPr>
              <a:t>    '</a:t>
            </a:r>
            <a:r>
              <a:rPr lang="en-US" altLang="zh-CN" sz="1600" dirty="0" err="1">
                <a:solidFill>
                  <a:schemeClr val="bg1"/>
                </a:solidFill>
              </a:rPr>
              <a:t>Rimnicu</a:t>
            </a:r>
            <a:r>
              <a:rPr lang="en-US" altLang="zh-CN" sz="1600" dirty="0">
                <a:solidFill>
                  <a:schemeClr val="bg1"/>
                </a:solidFill>
              </a:rPr>
              <a:t>': (233, 410),</a:t>
            </a:r>
          </a:p>
          <a:p>
            <a:r>
              <a:rPr lang="en-US" altLang="zh-CN" sz="1600" dirty="0">
                <a:solidFill>
                  <a:schemeClr val="bg1"/>
                </a:solidFill>
              </a:rPr>
              <a:t>    'Sibiu': (207, 457),</a:t>
            </a:r>
          </a:p>
          <a:p>
            <a:r>
              <a:rPr lang="en-US" altLang="zh-CN" sz="1600" dirty="0">
                <a:solidFill>
                  <a:schemeClr val="bg1"/>
                </a:solidFill>
              </a:rPr>
              <a:t>    'Timisoara': (94, 410),</a:t>
            </a:r>
          </a:p>
          <a:p>
            <a:r>
              <a:rPr lang="en-US" altLang="zh-CN" sz="1600" dirty="0">
                <a:solidFill>
                  <a:schemeClr val="bg1"/>
                </a:solidFill>
              </a:rPr>
              <a:t>    'Urziceni': (456, 350),</a:t>
            </a:r>
          </a:p>
          <a:p>
            <a:r>
              <a:rPr lang="en-US" altLang="zh-CN" sz="1600" dirty="0">
                <a:solidFill>
                  <a:schemeClr val="bg1"/>
                </a:solidFill>
              </a:rPr>
              <a:t>    '</a:t>
            </a:r>
            <a:r>
              <a:rPr lang="en-US" altLang="zh-CN" sz="1600" dirty="0" err="1">
                <a:solidFill>
                  <a:schemeClr val="bg1"/>
                </a:solidFill>
              </a:rPr>
              <a:t>Vaslui</a:t>
            </a:r>
            <a:r>
              <a:rPr lang="en-US" altLang="zh-CN" sz="1600" dirty="0">
                <a:solidFill>
                  <a:schemeClr val="bg1"/>
                </a:solidFill>
              </a:rPr>
              <a:t>': (509, 444),</a:t>
            </a:r>
          </a:p>
          <a:p>
            <a:r>
              <a:rPr lang="en-US" altLang="zh-CN" sz="1600" dirty="0">
                <a:solidFill>
                  <a:schemeClr val="bg1"/>
                </a:solidFill>
              </a:rPr>
              <a:t>    '</a:t>
            </a:r>
            <a:r>
              <a:rPr lang="en-US" altLang="zh-CN" sz="1600" dirty="0" err="1">
                <a:solidFill>
                  <a:schemeClr val="bg1"/>
                </a:solidFill>
              </a:rPr>
              <a:t>Zerind</a:t>
            </a:r>
            <a:r>
              <a:rPr lang="en-US" altLang="zh-CN" sz="1600" dirty="0">
                <a:solidFill>
                  <a:schemeClr val="bg1"/>
                </a:solidFill>
              </a:rPr>
              <a:t>': (108, 531),}</a:t>
            </a:r>
          </a:p>
          <a:p>
            <a:endParaRPr lang="en-US" altLang="zh-CN" sz="1600" dirty="0">
              <a:solidFill>
                <a:schemeClr val="bg1"/>
              </a:solidFill>
            </a:endParaRPr>
          </a:p>
        </p:txBody>
      </p:sp>
      <p:sp>
        <p:nvSpPr>
          <p:cNvPr id="4" name="矩形: 圆角 13"/>
          <p:cNvSpPr/>
          <p:nvPr/>
        </p:nvSpPr>
        <p:spPr>
          <a:xfrm>
            <a:off x="5150721" y="2568863"/>
            <a:ext cx="6811233" cy="2544365"/>
          </a:xfrm>
          <a:prstGeom prst="roundRect">
            <a:avLst/>
          </a:prstGeom>
          <a:solidFill>
            <a:schemeClr val="tx1">
              <a:alpha val="50000"/>
            </a:schemeClr>
          </a:solidFill>
          <a:ln w="28575">
            <a:solidFill>
              <a:schemeClr val="bg1"/>
            </a:solidFill>
            <a:prstDash val="sysDash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CN" sz="16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# </a:t>
            </a:r>
            <a:r>
              <a:rPr lang="zh-CN" altLang="en-US" sz="16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创建图</a:t>
            </a:r>
          </a:p>
          <a:p>
            <a:r>
              <a:rPr lang="en-US" altLang="zh-CN" sz="16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 = </a:t>
            </a:r>
            <a:r>
              <a:rPr lang="en-US" altLang="zh-CN" sz="16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nx.Graph</a:t>
            </a:r>
            <a:r>
              <a:rPr lang="en-US" altLang="zh-CN" sz="16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()</a:t>
            </a:r>
          </a:p>
          <a:p>
            <a:endParaRPr lang="en-US" altLang="zh-CN" sz="16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altLang="zh-CN" sz="16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# </a:t>
            </a:r>
            <a:r>
              <a:rPr lang="zh-CN" altLang="en-US" sz="16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添加城市节点和边</a:t>
            </a:r>
          </a:p>
          <a:p>
            <a:r>
              <a:rPr lang="en-US" altLang="zh-CN" sz="16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for city, connections in </a:t>
            </a:r>
            <a:r>
              <a:rPr lang="en-US" altLang="zh-CN" sz="16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city_data.items</a:t>
            </a:r>
            <a:r>
              <a:rPr lang="en-US" altLang="zh-CN" sz="16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():</a:t>
            </a:r>
          </a:p>
          <a:p>
            <a:r>
              <a:rPr lang="en-US" altLang="zh-CN" sz="16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</a:t>
            </a:r>
            <a:r>
              <a:rPr lang="en-US" altLang="zh-CN" sz="16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G.add_node</a:t>
            </a:r>
            <a:r>
              <a:rPr lang="en-US" altLang="zh-CN" sz="16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(city, pos=</a:t>
            </a:r>
            <a:r>
              <a:rPr lang="en-US" altLang="zh-CN" sz="16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city_coordinates</a:t>
            </a:r>
            <a:r>
              <a:rPr lang="en-US" altLang="zh-CN" sz="16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[city])</a:t>
            </a:r>
          </a:p>
          <a:p>
            <a:r>
              <a:rPr lang="en-US" altLang="zh-CN" sz="16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for connection, weight in connections:</a:t>
            </a:r>
          </a:p>
          <a:p>
            <a:r>
              <a:rPr lang="en-US" altLang="zh-CN" sz="16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  </a:t>
            </a:r>
            <a:r>
              <a:rPr lang="en-US" altLang="zh-CN" sz="16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G.add_edge</a:t>
            </a:r>
            <a:r>
              <a:rPr lang="en-US" altLang="zh-CN" sz="16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(city, connection, weight=weight)</a:t>
            </a:r>
          </a:p>
          <a:p>
            <a:endParaRPr lang="en-US" altLang="zh-CN" sz="16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random/>
      </p:transition>
    </mc:Choice>
    <mc:Fallback xmlns="">
      <p:transition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7" grpId="0" bldLvl="0" animBg="1"/>
      <p:bldP spid="4" grpId="0" bldLvl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9341" cy="819150"/>
          </a:xfrm>
          <a:prstGeom prst="rect">
            <a:avLst/>
          </a:prstGeom>
        </p:spPr>
      </p:pic>
      <p:pic>
        <p:nvPicPr>
          <p:cNvPr id="3" name="图片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36654" y="0"/>
            <a:ext cx="2452687" cy="829976"/>
          </a:xfrm>
          <a:prstGeom prst="rect">
            <a:avLst/>
          </a:prstGeom>
        </p:spPr>
      </p:pic>
      <p:sp>
        <p:nvSpPr>
          <p:cNvPr id="19" name="文本框 18"/>
          <p:cNvSpPr txBox="1"/>
          <p:nvPr/>
        </p:nvSpPr>
        <p:spPr>
          <a:xfrm>
            <a:off x="79898" y="24854"/>
            <a:ext cx="4850105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4400" dirty="0"/>
              <a:t>代码示例</a:t>
            </a:r>
          </a:p>
        </p:txBody>
      </p:sp>
      <p:sp>
        <p:nvSpPr>
          <p:cNvPr id="8" name="矩形: 圆角 13"/>
          <p:cNvSpPr/>
          <p:nvPr/>
        </p:nvSpPr>
        <p:spPr>
          <a:xfrm>
            <a:off x="647457" y="1047234"/>
            <a:ext cx="10409426" cy="5427138"/>
          </a:xfrm>
          <a:prstGeom prst="roundRect">
            <a:avLst/>
          </a:prstGeom>
          <a:solidFill>
            <a:schemeClr val="tx1">
              <a:alpha val="50000"/>
            </a:schemeClr>
          </a:solidFill>
          <a:ln w="28575">
            <a:solidFill>
              <a:schemeClr val="bg1"/>
            </a:solidFill>
            <a:prstDash val="sysDash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CN" sz="16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# </a:t>
            </a:r>
            <a:r>
              <a:rPr lang="zh-CN" altLang="en-US" sz="16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广度优先搜索算法</a:t>
            </a:r>
            <a:endParaRPr lang="en-US" altLang="zh-CN" sz="16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altLang="zh-CN" sz="16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def </a:t>
            </a:r>
            <a:r>
              <a:rPr lang="en-US" altLang="zh-CN" sz="16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bfs</a:t>
            </a:r>
            <a:r>
              <a:rPr lang="en-US" altLang="zh-CN" sz="16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(graph, start, goal):</a:t>
            </a:r>
          </a:p>
          <a:p>
            <a:r>
              <a:rPr lang="en-US" altLang="zh-CN" sz="16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queue = [(start, [start])]   # </a:t>
            </a:r>
            <a:r>
              <a:rPr lang="zh-CN" altLang="en-US" sz="16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队列，先进先出</a:t>
            </a:r>
            <a:endParaRPr lang="en-US" altLang="zh-CN" sz="16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altLang="zh-CN" sz="16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</a:t>
            </a:r>
            <a:r>
              <a:rPr lang="en-US" altLang="zh-CN" sz="16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nodes_expanded</a:t>
            </a:r>
            <a:r>
              <a:rPr lang="en-US" altLang="zh-CN" sz="16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= 0    </a:t>
            </a:r>
          </a:p>
          <a:p>
            <a:r>
              <a:rPr lang="en-US" altLang="zh-CN" sz="16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while queue:</a:t>
            </a:r>
          </a:p>
          <a:p>
            <a:r>
              <a:rPr lang="en-US" altLang="zh-CN" sz="16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  </a:t>
            </a:r>
            <a:r>
              <a:rPr lang="en-US" altLang="zh-CN" sz="16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nodes_expanded</a:t>
            </a:r>
            <a:r>
              <a:rPr lang="en-US" altLang="zh-CN" sz="16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+= 1</a:t>
            </a:r>
          </a:p>
          <a:p>
            <a:r>
              <a:rPr lang="fr-FR" altLang="zh-CN" sz="16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  (current, path) = queue.pop(0)</a:t>
            </a:r>
            <a:endParaRPr lang="en-US" altLang="zh-CN" sz="16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altLang="zh-CN" sz="16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  for </a:t>
            </a:r>
            <a:r>
              <a:rPr lang="en-US" altLang="zh-CN" sz="16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next_city</a:t>
            </a:r>
            <a:r>
              <a:rPr lang="en-US" altLang="zh-CN" sz="16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in set(</a:t>
            </a:r>
            <a:r>
              <a:rPr lang="en-US" altLang="zh-CN" sz="16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graph.neighbors</a:t>
            </a:r>
            <a:r>
              <a:rPr lang="en-US" altLang="zh-CN" sz="16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(current)) - set(path):</a:t>
            </a:r>
          </a:p>
          <a:p>
            <a:r>
              <a:rPr lang="en-US" altLang="zh-CN" sz="16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      if </a:t>
            </a:r>
            <a:r>
              <a:rPr lang="en-US" altLang="zh-CN" sz="16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next_city</a:t>
            </a:r>
            <a:r>
              <a:rPr lang="en-US" altLang="zh-CN" sz="16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== goal:</a:t>
            </a:r>
          </a:p>
          <a:p>
            <a:r>
              <a:rPr lang="en-US" altLang="zh-CN" sz="16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           </a:t>
            </a:r>
            <a:r>
              <a:rPr lang="en-US" altLang="zh-CN" sz="16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total_cost</a:t>
            </a:r>
            <a:r>
              <a:rPr lang="en-US" altLang="zh-CN" sz="16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= sum(</a:t>
            </a:r>
            <a:r>
              <a:rPr lang="en-US" altLang="zh-CN" sz="16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graph.get_edge_data</a:t>
            </a:r>
            <a:r>
              <a:rPr lang="en-US" altLang="zh-CN" sz="16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(path[</a:t>
            </a:r>
            <a:r>
              <a:rPr lang="en-US" altLang="zh-CN" sz="16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</a:t>
            </a:r>
            <a:r>
              <a:rPr lang="en-US" altLang="zh-CN" sz="16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], path[</a:t>
            </a:r>
            <a:r>
              <a:rPr lang="en-US" altLang="zh-CN" sz="16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</a:t>
            </a:r>
            <a:r>
              <a:rPr lang="en-US" altLang="zh-CN" sz="16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+ 1])['weight'] for </a:t>
            </a:r>
            <a:r>
              <a:rPr lang="en-US" altLang="zh-CN" sz="16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</a:t>
            </a:r>
            <a:r>
              <a:rPr lang="en-US" altLang="zh-CN" sz="16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in range(</a:t>
            </a:r>
            <a:r>
              <a:rPr lang="en-US" altLang="zh-CN" sz="16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len</a:t>
            </a:r>
            <a:r>
              <a:rPr lang="en-US" altLang="zh-CN" sz="16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(path) - 1))</a:t>
            </a:r>
          </a:p>
          <a:p>
            <a:r>
              <a:rPr lang="en-US" altLang="zh-CN" sz="16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           return {'path': path, '</a:t>
            </a:r>
            <a:r>
              <a:rPr lang="en-US" altLang="zh-CN" sz="16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nodes_expanded</a:t>
            </a:r>
            <a:r>
              <a:rPr lang="en-US" altLang="zh-CN" sz="16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': </a:t>
            </a:r>
            <a:r>
              <a:rPr lang="en-US" altLang="zh-CN" sz="16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nodes_expanded</a:t>
            </a:r>
            <a:r>
              <a:rPr lang="en-US" altLang="zh-CN" sz="16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'</a:t>
            </a:r>
            <a:r>
              <a:rPr lang="en-US" altLang="zh-CN" sz="16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total_cost</a:t>
            </a:r>
            <a:r>
              <a:rPr lang="en-US" altLang="zh-CN" sz="16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': </a:t>
            </a:r>
            <a:r>
              <a:rPr lang="en-US" altLang="zh-CN" sz="16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total_cost</a:t>
            </a:r>
            <a:r>
              <a:rPr lang="en-US" altLang="zh-CN" sz="16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}</a:t>
            </a:r>
          </a:p>
          <a:p>
            <a:r>
              <a:rPr lang="en-US" altLang="zh-CN" sz="16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      else:</a:t>
            </a:r>
          </a:p>
          <a:p>
            <a:r>
              <a:rPr lang="en-US" altLang="zh-CN" sz="16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          </a:t>
            </a:r>
            <a:r>
              <a:rPr lang="en-US" altLang="zh-CN" sz="16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queue.append</a:t>
            </a:r>
            <a:r>
              <a:rPr lang="en-US" altLang="zh-CN" sz="16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((</a:t>
            </a:r>
            <a:r>
              <a:rPr lang="en-US" altLang="zh-CN" sz="16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next_city</a:t>
            </a:r>
            <a:r>
              <a:rPr lang="en-US" altLang="zh-CN" sz="16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path + [</a:t>
            </a:r>
            <a:r>
              <a:rPr lang="en-US" altLang="zh-CN" sz="16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next_city</a:t>
            </a:r>
            <a:r>
              <a:rPr lang="en-US" altLang="zh-CN" sz="16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]))</a:t>
            </a:r>
          </a:p>
          <a:p>
            <a:r>
              <a:rPr lang="en-US" altLang="zh-CN" sz="16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result = </a:t>
            </a:r>
            <a:r>
              <a:rPr lang="en-US" altLang="zh-CN" sz="16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bfs</a:t>
            </a:r>
            <a:r>
              <a:rPr lang="en-US" altLang="zh-CN" sz="16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(G, 'Arad', 'Bucharest’)</a:t>
            </a:r>
          </a:p>
          <a:p>
            <a:r>
              <a:rPr lang="en-US" altLang="zh-CN" sz="16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print("</a:t>
            </a:r>
            <a:r>
              <a:rPr lang="zh-CN" altLang="en-US" sz="16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经过的节点数</a:t>
            </a:r>
            <a:r>
              <a:rPr lang="en-US" altLang="zh-CN" sz="16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:", result['</a:t>
            </a:r>
            <a:r>
              <a:rPr lang="en-US" altLang="zh-CN" sz="16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nodes_expanded</a:t>
            </a:r>
            <a:r>
              <a:rPr lang="en-US" altLang="zh-CN" sz="16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’])</a:t>
            </a:r>
          </a:p>
          <a:p>
            <a:r>
              <a:rPr lang="en-US" altLang="zh-CN" sz="16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print("</a:t>
            </a:r>
            <a:r>
              <a:rPr lang="zh-CN" altLang="en-US" sz="16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路径</a:t>
            </a:r>
            <a:r>
              <a:rPr lang="en-US" altLang="zh-CN" sz="16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:", result['path’])</a:t>
            </a:r>
          </a:p>
          <a:p>
            <a:r>
              <a:rPr lang="en-US" altLang="zh-CN" sz="16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print("</a:t>
            </a:r>
            <a:r>
              <a:rPr lang="zh-CN" altLang="en-US" sz="16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总代价</a:t>
            </a:r>
            <a:r>
              <a:rPr lang="en-US" altLang="zh-CN" sz="16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:", result['</a:t>
            </a:r>
            <a:r>
              <a:rPr lang="en-US" altLang="zh-CN" sz="16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total_cost</a:t>
            </a:r>
            <a:r>
              <a:rPr lang="en-US" altLang="zh-CN" sz="16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'])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random/>
      </p:transition>
    </mc:Choice>
    <mc:Fallback xmlns="">
      <p:transition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8" grpId="0" bldLvl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9341" cy="819150"/>
          </a:xfrm>
          <a:prstGeom prst="rect">
            <a:avLst/>
          </a:prstGeom>
        </p:spPr>
      </p:pic>
      <p:pic>
        <p:nvPicPr>
          <p:cNvPr id="3" name="图片 2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36654" y="0"/>
            <a:ext cx="2452687" cy="829976"/>
          </a:xfrm>
          <a:prstGeom prst="rect">
            <a:avLst/>
          </a:prstGeom>
        </p:spPr>
      </p:pic>
      <p:sp>
        <p:nvSpPr>
          <p:cNvPr id="19" name="文本框 18"/>
          <p:cNvSpPr txBox="1"/>
          <p:nvPr/>
        </p:nvSpPr>
        <p:spPr>
          <a:xfrm>
            <a:off x="79898" y="24854"/>
            <a:ext cx="4850105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4400" dirty="0"/>
              <a:t>视频示例</a:t>
            </a:r>
          </a:p>
        </p:txBody>
      </p:sp>
      <p:pic>
        <p:nvPicPr>
          <p:cNvPr id="4" name="演示视频">
            <a:hlinkClick r:id="" action="ppaction://media"/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7"/>
          <a:stretch>
            <a:fillRect/>
          </a:stretch>
        </p:blipFill>
        <p:spPr>
          <a:xfrm>
            <a:off x="1209396" y="947057"/>
            <a:ext cx="10256951" cy="576953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random/>
      </p:transition>
    </mc:Choice>
    <mc:Fallback xmlns="">
      <p:transition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1" dur="27130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12" fill="hold" display="0">
                  <p:stCondLst>
                    <p:cond delay="indefinite"/>
                  </p:stCondLst>
                </p:cTn>
                <p:tgtEl>
                  <p:spTgt spid="4"/>
                </p:tgtEl>
              </p:cMediaNode>
            </p:video>
            <p:seq concurrent="1" nextAc="seek">
              <p:cTn id="13" restart="whenNotActive" fill="hold" evtFilter="cancelBubble" nodeType="interactiveSeq">
                <p:stCondLst>
                  <p:cond evt="onClick" delay="0">
                    <p:tgtEl>
                      <p:spTgt spid="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4" fill="hold">
                      <p:stCondLst>
                        <p:cond delay="0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7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"/>
                  </p:tgtEl>
                </p:cond>
              </p:nextCondLst>
            </p:seq>
          </p:childTnLst>
        </p:cTn>
      </p:par>
    </p:tnLst>
    <p:bldLst>
      <p:bldP spid="19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9341" cy="819150"/>
          </a:xfrm>
          <a:prstGeom prst="rect">
            <a:avLst/>
          </a:prstGeom>
        </p:spPr>
      </p:pic>
      <p:pic>
        <p:nvPicPr>
          <p:cNvPr id="3" name="图片 2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36654" y="0"/>
            <a:ext cx="2452687" cy="829976"/>
          </a:xfrm>
          <a:prstGeom prst="rect">
            <a:avLst/>
          </a:prstGeom>
        </p:spPr>
      </p:pic>
      <p:sp>
        <p:nvSpPr>
          <p:cNvPr id="19" name="文本框 18"/>
          <p:cNvSpPr txBox="1"/>
          <p:nvPr/>
        </p:nvSpPr>
        <p:spPr>
          <a:xfrm>
            <a:off x="79898" y="24854"/>
            <a:ext cx="4850105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4400" dirty="0"/>
              <a:t>作业提交</a:t>
            </a:r>
          </a:p>
        </p:txBody>
      </p:sp>
      <p:sp>
        <p:nvSpPr>
          <p:cNvPr id="4" name="矩形: 圆角 3"/>
          <p:cNvSpPr/>
          <p:nvPr/>
        </p:nvSpPr>
        <p:spPr>
          <a:xfrm>
            <a:off x="2269490" y="1831340"/>
            <a:ext cx="8347710" cy="3503930"/>
          </a:xfrm>
          <a:prstGeom prst="roundRect">
            <a:avLst/>
          </a:prstGeom>
          <a:solidFill>
            <a:schemeClr val="accent5">
              <a:alpha val="50000"/>
            </a:schemeClr>
          </a:solidFill>
          <a:ln w="28575">
            <a:solidFill>
              <a:schemeClr val="bg1"/>
            </a:solidFill>
            <a:prstDash val="sysDash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lnSpc>
                <a:spcPct val="110000"/>
              </a:lnSpc>
            </a:pPr>
            <a:r>
              <a:rPr lang="zh-CN" altLang="en-US" sz="2400" dirty="0">
                <a:solidFill>
                  <a:schemeClr val="bg1"/>
                </a:solidFill>
              </a:rPr>
              <a:t>实验课作业文件夹命名：人工智能导论</a:t>
            </a:r>
            <a:r>
              <a:rPr lang="en-US" altLang="zh-CN" sz="2400" dirty="0">
                <a:solidFill>
                  <a:schemeClr val="bg1"/>
                </a:solidFill>
              </a:rPr>
              <a:t>-</a:t>
            </a:r>
            <a:r>
              <a:rPr lang="zh-CN" altLang="en-US" sz="2400" dirty="0">
                <a:solidFill>
                  <a:schemeClr val="bg1"/>
                </a:solidFill>
              </a:rPr>
              <a:t>实验</a:t>
            </a:r>
            <a:r>
              <a:rPr lang="en-US" altLang="zh-CN" sz="2400" dirty="0">
                <a:solidFill>
                  <a:schemeClr val="bg1"/>
                </a:solidFill>
              </a:rPr>
              <a:t>1-</a:t>
            </a:r>
            <a:r>
              <a:rPr lang="zh-CN" altLang="en-US" sz="2400" dirty="0">
                <a:solidFill>
                  <a:schemeClr val="bg1"/>
                </a:solidFill>
              </a:rPr>
              <a:t>学号</a:t>
            </a:r>
            <a:r>
              <a:rPr lang="en-US" altLang="zh-CN" sz="2400" dirty="0">
                <a:solidFill>
                  <a:schemeClr val="bg1"/>
                </a:solidFill>
              </a:rPr>
              <a:t>-</a:t>
            </a:r>
            <a:r>
              <a:rPr lang="zh-CN" altLang="en-US" sz="2400" dirty="0">
                <a:solidFill>
                  <a:schemeClr val="bg1"/>
                </a:solidFill>
              </a:rPr>
              <a:t>姓名</a:t>
            </a:r>
          </a:p>
          <a:p>
            <a:pPr indent="457200" algn="l">
              <a:lnSpc>
                <a:spcPct val="110000"/>
              </a:lnSpc>
            </a:pPr>
            <a:r>
              <a:rPr lang="zh-CN" altLang="en-US" sz="2400" dirty="0">
                <a:solidFill>
                  <a:schemeClr val="bg1"/>
                </a:solidFill>
              </a:rPr>
              <a:t>文件夹内必须包含：课程报告</a:t>
            </a:r>
            <a:r>
              <a:rPr lang="en-US" altLang="zh-CN" sz="2400" dirty="0">
                <a:solidFill>
                  <a:schemeClr val="bg1"/>
                </a:solidFill>
              </a:rPr>
              <a:t>+</a:t>
            </a:r>
            <a:r>
              <a:rPr lang="zh-CN" altLang="en-US" sz="2400" dirty="0">
                <a:solidFill>
                  <a:schemeClr val="bg1"/>
                </a:solidFill>
              </a:rPr>
              <a:t>源代码</a:t>
            </a:r>
            <a:endParaRPr lang="en-US" altLang="zh-CN" sz="2400" dirty="0">
              <a:solidFill>
                <a:schemeClr val="bg1"/>
              </a:solidFill>
            </a:endParaRPr>
          </a:p>
          <a:p>
            <a:pPr indent="457200" algn="l">
              <a:lnSpc>
                <a:spcPct val="110000"/>
              </a:lnSpc>
            </a:pPr>
            <a:endParaRPr lang="en-US" altLang="zh-CN" sz="2400" dirty="0">
              <a:solidFill>
                <a:schemeClr val="bg1"/>
              </a:solidFill>
            </a:endParaRPr>
          </a:p>
          <a:p>
            <a:pPr algn="l">
              <a:lnSpc>
                <a:spcPct val="110000"/>
              </a:lnSpc>
            </a:pPr>
            <a:r>
              <a:rPr lang="zh-CN" altLang="en-US" sz="2400" dirty="0">
                <a:solidFill>
                  <a:schemeClr val="bg1"/>
                </a:solidFill>
              </a:rPr>
              <a:t>建议邮箱标题（主题）标注下邮件内容</a:t>
            </a:r>
            <a:endParaRPr lang="en-US" altLang="zh-CN" sz="2400" dirty="0">
              <a:solidFill>
                <a:schemeClr val="bg1"/>
              </a:solidFill>
            </a:endParaRPr>
          </a:p>
          <a:p>
            <a:pPr>
              <a:lnSpc>
                <a:spcPct val="110000"/>
              </a:lnSpc>
            </a:pPr>
            <a:r>
              <a:rPr lang="zh-CN" altLang="en-US" sz="2400" dirty="0">
                <a:solidFill>
                  <a:schemeClr val="bg1"/>
                </a:solidFill>
              </a:rPr>
              <a:t>作业发送至邮箱：</a:t>
            </a:r>
            <a:r>
              <a:rPr lang="en-US" altLang="zh-CN" sz="2400" dirty="0">
                <a:solidFill>
                  <a:schemeClr val="bg1"/>
                </a:solidFill>
              </a:rPr>
              <a:t>329409775@qq.com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random/>
      </p:transition>
    </mc:Choice>
    <mc:Fallback xmlns="">
      <p:transition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4" grpId="0" bldLvl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A0FB24-189F-5A50-178A-7EAA5DEC81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>
            <a:extLst>
              <a:ext uri="{FF2B5EF4-FFF2-40B4-BE49-F238E27FC236}">
                <a16:creationId xmlns:a16="http://schemas.microsoft.com/office/drawing/2014/main" id="{AB345BAD-DB4E-C664-105E-FF8257193BF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9341" cy="819150"/>
          </a:xfrm>
          <a:prstGeom prst="rect">
            <a:avLst/>
          </a:prstGeom>
        </p:spPr>
      </p:pic>
      <p:pic>
        <p:nvPicPr>
          <p:cNvPr id="3" name="图片 2">
            <a:extLst>
              <a:ext uri="{FF2B5EF4-FFF2-40B4-BE49-F238E27FC236}">
                <a16:creationId xmlns:a16="http://schemas.microsoft.com/office/drawing/2014/main" id="{AFFF4B39-19A4-7322-E3FA-E20C34CB51B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36654" y="0"/>
            <a:ext cx="2452687" cy="829976"/>
          </a:xfrm>
          <a:prstGeom prst="rect">
            <a:avLst/>
          </a:prstGeom>
        </p:spPr>
      </p:pic>
      <p:sp>
        <p:nvSpPr>
          <p:cNvPr id="19" name="文本框 18">
            <a:extLst>
              <a:ext uri="{FF2B5EF4-FFF2-40B4-BE49-F238E27FC236}">
                <a16:creationId xmlns:a16="http://schemas.microsoft.com/office/drawing/2014/main" id="{A31C98D9-6F1F-983E-B071-148AED4BA499}"/>
              </a:ext>
            </a:extLst>
          </p:cNvPr>
          <p:cNvSpPr txBox="1"/>
          <p:nvPr/>
        </p:nvSpPr>
        <p:spPr>
          <a:xfrm>
            <a:off x="79898" y="24854"/>
            <a:ext cx="4850105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4400" dirty="0"/>
              <a:t>数据解释</a:t>
            </a: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5DD9FCBF-21C5-B4DA-930B-FAF2D062B90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8327" y="844004"/>
            <a:ext cx="7337206" cy="6003169"/>
          </a:xfrm>
          <a:prstGeom prst="rect">
            <a:avLst/>
          </a:prstGeom>
        </p:spPr>
      </p:pic>
      <p:sp>
        <p:nvSpPr>
          <p:cNvPr id="7" name="文本框 6">
            <a:extLst>
              <a:ext uri="{FF2B5EF4-FFF2-40B4-BE49-F238E27FC236}">
                <a16:creationId xmlns:a16="http://schemas.microsoft.com/office/drawing/2014/main" id="{C8874E30-477D-DD06-0C51-D966A2C6E66E}"/>
              </a:ext>
            </a:extLst>
          </p:cNvPr>
          <p:cNvSpPr txBox="1"/>
          <p:nvPr/>
        </p:nvSpPr>
        <p:spPr>
          <a:xfrm>
            <a:off x="6902736" y="1302266"/>
            <a:ext cx="252306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与其相连节点以及距离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96C0CDA7-5117-7D18-7524-C4F10B3833A0}"/>
              </a:ext>
            </a:extLst>
          </p:cNvPr>
          <p:cNvSpPr txBox="1"/>
          <p:nvPr/>
        </p:nvSpPr>
        <p:spPr>
          <a:xfrm>
            <a:off x="6902736" y="4358733"/>
            <a:ext cx="252306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各节点位置</a:t>
            </a:r>
          </a:p>
        </p:txBody>
      </p:sp>
    </p:spTree>
    <p:extLst>
      <p:ext uri="{BB962C8B-B14F-4D97-AF65-F5344CB8AC3E}">
        <p14:creationId xmlns:p14="http://schemas.microsoft.com/office/powerpoint/2010/main" val="18458884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random/>
      </p:transition>
    </mc:Choice>
    <mc:Fallback xmlns="">
      <p:transition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OMMONDATA" val="eyJoZGlkIjoiN2M0NTVhZWE3MzJhMDQ1ODIxODkyZTA5ZDg5NzAzZDEifQ=="/>
</p:tagLst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180</TotalTime>
  <Words>1384</Words>
  <Application>Microsoft Office PowerPoint</Application>
  <PresentationFormat>宽屏</PresentationFormat>
  <Paragraphs>116</Paragraphs>
  <Slides>12</Slides>
  <Notes>7</Notes>
  <HiddenSlides>0</HiddenSlides>
  <MMClips>1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12</vt:i4>
      </vt:variant>
    </vt:vector>
  </HeadingPairs>
  <TitlesOfParts>
    <vt:vector size="18" baseType="lpstr">
      <vt:lpstr>等线</vt:lpstr>
      <vt:lpstr>等线 Light</vt:lpstr>
      <vt:lpstr>微软雅黑</vt:lpstr>
      <vt:lpstr>Arial</vt:lpstr>
      <vt:lpstr>Office 主题​​</vt:lpstr>
      <vt:lpstr>1_Office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Microsoft Office User</dc:creator>
  <cp:lastModifiedBy>先民 田</cp:lastModifiedBy>
  <cp:revision>48</cp:revision>
  <dcterms:created xsi:type="dcterms:W3CDTF">2021-04-15T00:45:00Z</dcterms:created>
  <dcterms:modified xsi:type="dcterms:W3CDTF">2025-12-03T11:19:10Z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3A3F0A4DCF2B4AD78E539D57B3D730F4</vt:lpwstr>
  </property>
  <property fmtid="{D5CDD505-2E9C-101B-9397-08002B2CF9AE}" pid="3" name="KSOProductBuildVer">
    <vt:lpwstr>2052-12.1.0.16929</vt:lpwstr>
  </property>
</Properties>
</file>